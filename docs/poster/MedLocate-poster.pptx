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30275213" cy="21383625"/>
  <p:notesSz cx="30275213" cy="213836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5">
          <p15:clr>
            <a:srgbClr val="A4A3A4"/>
          </p15:clr>
        </p15:guide>
        <p15:guide id="2" orient="horz" pos="13015">
          <p15:clr>
            <a:srgbClr val="A4A3A4"/>
          </p15:clr>
        </p15:guide>
        <p15:guide id="3" pos="455">
          <p15:clr>
            <a:srgbClr val="A4A3A4"/>
          </p15:clr>
        </p15:guide>
        <p15:guide id="4" pos="18616">
          <p15:clr>
            <a:srgbClr val="A4A3A4"/>
          </p15:clr>
        </p15:guide>
        <p15:guide id="5" pos="6278">
          <p15:clr>
            <a:srgbClr val="A4A3A4"/>
          </p15:clr>
        </p15:guide>
        <p15:guide id="6" pos="6624">
          <p15:clr>
            <a:srgbClr val="A4A3A4"/>
          </p15:clr>
        </p15:guide>
        <p15:guide id="7" pos="12447">
          <p15:clr>
            <a:srgbClr val="A4A3A4"/>
          </p15:clr>
        </p15:guide>
        <p15:guide id="8" pos="127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7" d="100"/>
          <a:sy n="27" d="100"/>
        </p:scale>
        <p:origin x="1282" y="43"/>
      </p:cViewPr>
      <p:guideLst>
        <p:guide orient="horz" pos="455"/>
        <p:guide orient="horz" pos="13015"/>
        <p:guide pos="455"/>
        <p:guide pos="18616"/>
        <p:guide pos="6278"/>
        <p:guide pos="6624"/>
        <p:guide pos="12447"/>
        <p:guide pos="127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 Atlang Moremi" userId="89665e8b-9d33-4102-88d1-2e3fda6e28c4" providerId="ADAL" clId="{0D8A41DB-FEA3-42AD-AD40-90658EA8B8CD}"/>
    <pc:docChg chg="modSld">
      <pc:chgData name="Ame Atlang Moremi" userId="89665e8b-9d33-4102-88d1-2e3fda6e28c4" providerId="ADAL" clId="{0D8A41DB-FEA3-42AD-AD40-90658EA8B8CD}" dt="2026-10-20T20:47:48.561" v="6" actId="14100"/>
      <pc:docMkLst>
        <pc:docMk/>
      </pc:docMkLst>
      <pc:sldChg chg="modSp mod">
        <pc:chgData name="Ame Atlang Moremi" userId="89665e8b-9d33-4102-88d1-2e3fda6e28c4" providerId="ADAL" clId="{0D8A41DB-FEA3-42AD-AD40-90658EA8B8CD}" dt="2026-10-20T20:47:48.561" v="6" actId="14100"/>
        <pc:sldMkLst>
          <pc:docMk/>
          <pc:sldMk cId="0" sldId="256"/>
        </pc:sldMkLst>
        <pc:spChg chg="mod">
          <ac:chgData name="Ame Atlang Moremi" userId="89665e8b-9d33-4102-88d1-2e3fda6e28c4" providerId="ADAL" clId="{0D8A41DB-FEA3-42AD-AD40-90658EA8B8CD}" dt="2026-10-20T20:47:48.561" v="6" actId="14100"/>
          <ac:spMkLst>
            <pc:docMk/>
            <pc:sldMk cId="0" sldId="25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19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0961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4182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4802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5628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421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0067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032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702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3518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490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670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9176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1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itle block"/>
          <p:cNvGrpSpPr/>
          <p:nvPr/>
        </p:nvGrpSpPr>
        <p:grpSpPr>
          <a:xfrm>
            <a:off x="685229" y="795528"/>
            <a:ext cx="18599467" cy="3264408"/>
            <a:chOff x="685229" y="795528"/>
            <a:chExt cx="18599467" cy="3264408"/>
          </a:xfrm>
        </p:grpSpPr>
        <p:sp>
          <p:nvSpPr>
            <p:cNvPr id="3" name="Eyebrow"/>
            <p:cNvSpPr txBox="1"/>
            <p:nvPr/>
          </p:nvSpPr>
          <p:spPr>
            <a:xfrm>
              <a:off x="722376" y="795528"/>
              <a:ext cx="18562320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700" b="1" i="0" spc="3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BSBS  •  SYSTEM DEVELOPMENT PROJECT</a:t>
              </a:r>
            </a:p>
          </p:txBody>
        </p:sp>
        <p:sp>
          <p:nvSpPr>
            <p:cNvPr id="4" name="Project title"/>
            <p:cNvSpPr txBox="1"/>
            <p:nvPr/>
          </p:nvSpPr>
          <p:spPr>
            <a:xfrm>
              <a:off x="685229" y="1243584"/>
              <a:ext cx="18562320" cy="1188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5400" b="1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MedLocate</a:t>
              </a:r>
            </a:p>
          </p:txBody>
        </p:sp>
        <p:sp>
          <p:nvSpPr>
            <p:cNvPr id="5" name="Description"/>
            <p:cNvSpPr txBox="1"/>
            <p:nvPr/>
          </p:nvSpPr>
          <p:spPr>
            <a:xfrm>
              <a:off x="722376" y="2532888"/>
              <a:ext cx="1856232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2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web platform for licensed healthcare workers in Botswana to find available medicines and manage secure QR prescriptions</a:t>
              </a:r>
            </a:p>
          </p:txBody>
        </p:sp>
        <p:sp>
          <p:nvSpPr>
            <p:cNvPr id="6" name="Group members"/>
            <p:cNvSpPr txBox="1"/>
            <p:nvPr/>
          </p:nvSpPr>
          <p:spPr>
            <a:xfrm>
              <a:off x="722376" y="3118104"/>
              <a:ext cx="185623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Group Members:  </a:t>
              </a:r>
              <a:r>
                <a: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Mmetla </a:t>
              </a:r>
              <a:r>
                <a: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Leboa Rami Sejoe</a:t>
              </a:r>
              <a:r>
                <a:rPr sz="2000" b="0" i="0" dirty="0">
                  <a:solidFill>
                    <a:schemeClr val="tx1"/>
                  </a:solidFill>
                  <a:latin typeface="+mn-lt"/>
                </a:rPr>
                <a:t> | </a:t>
              </a:r>
              <a:r>
                <a: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Mmoloki Phuthego</a:t>
              </a:r>
              <a:r>
                <a:rPr sz="2000" b="0" i="0" dirty="0">
                  <a:solidFill>
                    <a:schemeClr val="tx1"/>
                  </a:solidFill>
                  <a:latin typeface="+mn-lt"/>
                </a:rPr>
                <a:t> |  </a:t>
              </a:r>
              <a:r>
                <a: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Ame Atlang Moremi</a:t>
              </a:r>
              <a:r>
                <a:rPr sz="2000" b="0" i="0" dirty="0">
                  <a:solidFill>
                    <a:schemeClr val="tx1"/>
                  </a:solidFill>
                  <a:latin typeface="+mn-lt"/>
                </a:rPr>
                <a:t>|  </a:t>
              </a:r>
              <a:r>
                <a: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Tlamelo Molly Mokenti</a:t>
              </a:r>
              <a:endParaRPr sz="2000" b="0" i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" name="Institution"/>
            <p:cNvSpPr txBox="1"/>
            <p:nvPr/>
          </p:nvSpPr>
          <p:spPr>
            <a:xfrm>
              <a:off x="722376" y="3648456"/>
              <a:ext cx="1856232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GB" sz="170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Botswana School of Business Sciences</a:t>
              </a:r>
              <a:r>
                <a:rPr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•  [</a:t>
              </a:r>
              <a:r>
                <a:rPr lang="en-GB"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BSc (Hons) in Network Computing</a:t>
              </a:r>
              <a:r>
                <a:rPr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 •</a:t>
              </a:r>
              <a:r>
                <a:rPr lang="en-BW"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[</a:t>
              </a:r>
              <a:r>
                <a:rPr lang="en-GB"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2026</a:t>
              </a:r>
              <a:r>
                <a:rPr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]</a:t>
              </a:r>
            </a:p>
          </p:txBody>
        </p:sp>
      </p:grpSp>
      <p:grpSp>
        <p:nvGrpSpPr>
          <p:cNvPr id="8" name="Project facts"/>
          <p:cNvGrpSpPr/>
          <p:nvPr/>
        </p:nvGrpSpPr>
        <p:grpSpPr>
          <a:xfrm>
            <a:off x="20308824" y="574126"/>
            <a:ext cx="9244584" cy="3291840"/>
            <a:chOff x="20308824" y="722376"/>
            <a:chExt cx="9244584" cy="3291840"/>
          </a:xfrm>
        </p:grpSpPr>
        <p:sp>
          <p:nvSpPr>
            <p:cNvPr id="9" name="Panel"/>
            <p:cNvSpPr/>
            <p:nvPr/>
          </p:nvSpPr>
          <p:spPr>
            <a:xfrm>
              <a:off x="20308824" y="722376"/>
              <a:ext cx="9244584" cy="3291840"/>
            </a:xfrm>
            <a:prstGeom prst="roundRect">
              <a:avLst>
                <a:gd name="adj" fmla="val 5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10" name="Logo picture"/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6965656" y="1336970"/>
              <a:ext cx="2221992" cy="1760879"/>
            </a:xfrm>
            <a:prstGeom prst="rect">
              <a:avLst/>
            </a:prstGeom>
          </p:spPr>
        </p:pic>
        <p:sp>
          <p:nvSpPr>
            <p:cNvPr id="11" name="Tech Stack label"/>
            <p:cNvSpPr txBox="1"/>
            <p:nvPr/>
          </p:nvSpPr>
          <p:spPr>
            <a:xfrm>
              <a:off x="20738592" y="996696"/>
              <a:ext cx="6428232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 dirty="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TECH STACK</a:t>
              </a:r>
            </a:p>
          </p:txBody>
        </p:sp>
        <p:sp>
          <p:nvSpPr>
            <p:cNvPr id="12" name="Tech Stack value"/>
            <p:cNvSpPr txBox="1"/>
            <p:nvPr/>
          </p:nvSpPr>
          <p:spPr>
            <a:xfrm>
              <a:off x="20738592" y="1344168"/>
              <a:ext cx="642823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900" b="0" i="0" dirty="0">
                  <a:solidFill>
                    <a:schemeClr val="bg1"/>
                  </a:solidFill>
                  <a:latin typeface="+mn-lt"/>
                </a:rPr>
                <a:t>Python · Django · PostgreSQL</a:t>
              </a:r>
            </a:p>
          </p:txBody>
        </p:sp>
        <p:sp>
          <p:nvSpPr>
            <p:cNvPr id="13" name="Duration label"/>
            <p:cNvSpPr txBox="1"/>
            <p:nvPr/>
          </p:nvSpPr>
          <p:spPr>
            <a:xfrm>
              <a:off x="20738592" y="1941576"/>
              <a:ext cx="6428232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 dirty="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DURATION</a:t>
              </a:r>
            </a:p>
          </p:txBody>
        </p:sp>
        <p:sp>
          <p:nvSpPr>
            <p:cNvPr id="14" name="Duration value"/>
            <p:cNvSpPr txBox="1"/>
            <p:nvPr/>
          </p:nvSpPr>
          <p:spPr>
            <a:xfrm>
              <a:off x="20738592" y="2289048"/>
              <a:ext cx="642823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900" b="0" i="0" dirty="0">
                  <a:solidFill>
                    <a:schemeClr val="bg1"/>
                  </a:solidFill>
                  <a:latin typeface="+mn-lt"/>
                </a:rPr>
                <a:t>[To be filled]</a:t>
              </a:r>
            </a:p>
          </p:txBody>
        </p:sp>
        <p:sp>
          <p:nvSpPr>
            <p:cNvPr id="15" name="Supervisor label"/>
            <p:cNvSpPr txBox="1"/>
            <p:nvPr/>
          </p:nvSpPr>
          <p:spPr>
            <a:xfrm>
              <a:off x="20738592" y="2886456"/>
              <a:ext cx="6428232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 dirty="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SUPERVISOR</a:t>
              </a:r>
            </a:p>
          </p:txBody>
        </p:sp>
        <p:sp>
          <p:nvSpPr>
            <p:cNvPr id="16" name="Supervisor value"/>
            <p:cNvSpPr txBox="1"/>
            <p:nvPr/>
          </p:nvSpPr>
          <p:spPr>
            <a:xfrm>
              <a:off x="20738592" y="3176146"/>
              <a:ext cx="6428232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GB"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Mr. Resego Tom Rabalone</a:t>
              </a:r>
              <a:endParaRPr sz="20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Section 1 - Introduction &amp; Problem Statement"/>
          <p:cNvGrpSpPr/>
          <p:nvPr/>
        </p:nvGrpSpPr>
        <p:grpSpPr>
          <a:xfrm>
            <a:off x="347472" y="4233823"/>
            <a:ext cx="9427464" cy="5575808"/>
            <a:chOff x="722376" y="4434840"/>
            <a:chExt cx="9244584" cy="4273792"/>
          </a:xfrm>
        </p:grpSpPr>
        <p:sp>
          <p:nvSpPr>
            <p:cNvPr id="18" name="Card"/>
            <p:cNvSpPr/>
            <p:nvPr/>
          </p:nvSpPr>
          <p:spPr>
            <a:xfrm>
              <a:off x="722376" y="4434840"/>
              <a:ext cx="9244584" cy="3931920"/>
            </a:xfrm>
            <a:prstGeom prst="roundRect">
              <a:avLst>
                <a:gd name="adj" fmla="val 4186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9" name="Number pill"/>
            <p:cNvSpPr/>
            <p:nvPr/>
          </p:nvSpPr>
          <p:spPr>
            <a:xfrm>
              <a:off x="1078992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Number"/>
            <p:cNvSpPr txBox="1"/>
            <p:nvPr/>
          </p:nvSpPr>
          <p:spPr>
            <a:xfrm>
              <a:off x="1078992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 dirty="0">
                  <a:solidFill>
                    <a:schemeClr val="bg1"/>
                  </a:solidFill>
                  <a:latin typeface="+mj-lt"/>
                </a:rPr>
                <a:t>1</a:t>
              </a:r>
            </a:p>
          </p:txBody>
        </p:sp>
        <p:sp>
          <p:nvSpPr>
            <p:cNvPr id="21" name="Heading"/>
            <p:cNvSpPr txBox="1"/>
            <p:nvPr/>
          </p:nvSpPr>
          <p:spPr>
            <a:xfrm>
              <a:off x="2203704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800" b="1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 &amp; PROBLEM STATEMENT</a:t>
              </a:r>
            </a:p>
          </p:txBody>
        </p:sp>
        <p:sp>
          <p:nvSpPr>
            <p:cNvPr id="22" name="Introduction text"/>
            <p:cNvSpPr txBox="1"/>
            <p:nvPr/>
          </p:nvSpPr>
          <p:spPr>
            <a:xfrm>
              <a:off x="1078991" y="5693406"/>
              <a:ext cx="8762436" cy="301522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1600" b="1" i="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Background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 2025 Botswana faced medicine shortages. WHO notes gaps in health data and supply chains that digital health can address.</a:t>
              </a:r>
            </a:p>
            <a:p>
              <a:pPr marL="274320" indent="-274320" algn="l">
                <a:spcAft>
                  <a:spcPts val="16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Doctors, nurses and pharmacists lack a single system to check stock, prescribe securely and dispense while updating inventory.</a:t>
              </a:r>
            </a:p>
            <a:p>
              <a:pPr algn="l">
                <a:spcAft>
                  <a:spcPts val="400"/>
                </a:spcAft>
                <a:buNone/>
              </a:pPr>
              <a:r>
                <a:rPr sz="1600" b="1" i="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integrated platform currently links medicine search, secure QR e-prescriptions and automatic stock deduction for authorized healthcare staff.</a:t>
              </a:r>
            </a:p>
            <a:p>
              <a:pPr marL="274320" indent="-274320" algn="l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tools handle search, inventory or e-prescribing in isolation; none combine all three for Botswana’s health facilities.</a:t>
              </a:r>
            </a:p>
          </p:txBody>
        </p:sp>
      </p:grpSp>
      <p:grpSp>
        <p:nvGrpSpPr>
          <p:cNvPr id="23" name="Section 2 - Literature Review"/>
          <p:cNvGrpSpPr/>
          <p:nvPr/>
        </p:nvGrpSpPr>
        <p:grpSpPr>
          <a:xfrm>
            <a:off x="475033" y="9581441"/>
            <a:ext cx="9379300" cy="10046675"/>
            <a:chOff x="722376" y="8641080"/>
            <a:chExt cx="9244584" cy="10513101"/>
          </a:xfrm>
        </p:grpSpPr>
        <p:sp>
          <p:nvSpPr>
            <p:cNvPr id="24" name="Card"/>
            <p:cNvSpPr/>
            <p:nvPr/>
          </p:nvSpPr>
          <p:spPr>
            <a:xfrm>
              <a:off x="722376" y="8641080"/>
              <a:ext cx="9244584" cy="10104120"/>
            </a:xfrm>
            <a:prstGeom prst="roundRect">
              <a:avLst>
                <a:gd name="adj" fmla="val 178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Number pill"/>
            <p:cNvSpPr/>
            <p:nvPr/>
          </p:nvSpPr>
          <p:spPr>
            <a:xfrm>
              <a:off x="1078992" y="897026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Number"/>
            <p:cNvSpPr txBox="1"/>
            <p:nvPr/>
          </p:nvSpPr>
          <p:spPr>
            <a:xfrm>
              <a:off x="1078992" y="897026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 dirty="0">
                  <a:solidFill>
                    <a:schemeClr val="bg1"/>
                  </a:solidFill>
                  <a:latin typeface="+mj-lt"/>
                </a:rPr>
                <a:t>2</a:t>
              </a:r>
            </a:p>
          </p:txBody>
        </p:sp>
        <p:sp>
          <p:nvSpPr>
            <p:cNvPr id="27" name="Heading"/>
            <p:cNvSpPr txBox="1"/>
            <p:nvPr/>
          </p:nvSpPr>
          <p:spPr>
            <a:xfrm>
              <a:off x="2073013" y="888796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800" b="1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 REVIEW</a:t>
              </a:r>
            </a:p>
          </p:txBody>
        </p:sp>
        <p:sp>
          <p:nvSpPr>
            <p:cNvPr id="28" name="Literature review text"/>
            <p:cNvSpPr txBox="1"/>
            <p:nvPr/>
          </p:nvSpPr>
          <p:spPr>
            <a:xfrm>
              <a:off x="1078992" y="9784080"/>
              <a:ext cx="8531352" cy="1584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Digital health integration of inventory, e-prescribing and dispensing supports Botswana’s eHealth Strategy and WHO digital-health goals.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ChekaMeds (search), OpenLMIS (stock), Open mSupply (dispensing–inventory link) and NHS EPS (e-prescriptions) were reviewed.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Each system solves part of the problem but none combine secure QR prescribing, partial dispensing and automatic stock update for </a:t>
              </a:r>
              <a:r>
                <a:rPr lang="en-GB"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authorized</a:t>
              </a: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staff.</a:t>
              </a:r>
            </a:p>
            <a:p>
              <a:pPr marL="274320" indent="-274320" algn="l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MedLocate integrates medicine search, QR e-prescriptions and transactional stock updates in one role-based Django platform for Botswana.</a:t>
              </a:r>
            </a:p>
          </p:txBody>
        </p:sp>
        <p:graphicFrame>
          <p:nvGraphicFramePr>
            <p:cNvPr id="29" name="Comparison tabl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2130044370"/>
                </p:ext>
              </p:extLst>
            </p:nvPr>
          </p:nvGraphicFramePr>
          <p:xfrm>
            <a:off x="722376" y="12847371"/>
            <a:ext cx="9111803" cy="2759769"/>
          </p:xfrm>
          <a:graphic>
            <a:graphicData uri="http://schemas.openxmlformats.org/drawingml/2006/table">
              <a:tbl>
                <a:tblPr>
                  <a:tableStyleId>{5940675A-B579-460E-94D1-54222C63F5DA}</a:tableStyleId>
                </a:tblPr>
                <a:tblGrid>
                  <a:gridCol w="351294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86582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8658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94001">
                  <a:tc>
                    <a:txBody>
                      <a:bodyPr/>
                      <a:lstStyle/>
                      <a:p>
                        <a:r>
                          <a:rPr sz="1600" b="1" i="0" dirty="0">
                            <a:solidFill>
                              <a:schemeClr val="bg1"/>
                            </a:solidFill>
                            <a:latin typeface="+mn-lt"/>
                          </a:rPr>
                          <a:t>Existing work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1" i="0" dirty="0">
                            <a:solidFill>
                              <a:schemeClr val="bg1"/>
                            </a:solidFill>
                            <a:latin typeface="+mn-lt"/>
                          </a:rPr>
                          <a:t>Strength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1" i="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Limitation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00927"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ChekaMeds (n.d.)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Local medicine search &amp; provider visibility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No QR Rx, partial dispense or auto stock update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00927"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OpenLMIS / Open mSupply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Robust stock records &amp; dispensing–inventory link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Not focused on QR e-Rx for Botswana facilities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00927"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NHS EPS (2026)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Secure electronic prescription flow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Not linked to local inventory search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00927">
                  <a:tc>
                    <a:txBody>
                      <a:bodyPr/>
                      <a:lstStyle/>
                      <a:p>
                        <a:r>
                          <a:rPr sz="1600" b="1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Proposed artifact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gridSpan="2"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Combines search + secure QR Rx + transactional stock update for </a:t>
                        </a:r>
                        <a:r>
                          <a:rPr lang="en-GB"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authorized</a:t>
                        </a:r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+mn-lt"/>
                          </a:rPr>
                          <a:t> staff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/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pic>
          <p:nvPicPr>
            <p:cNvPr id="30" name="Framework picture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8992" y="15124176"/>
              <a:ext cx="8531352" cy="2816352"/>
            </a:xfrm>
            <a:prstGeom prst="rect">
              <a:avLst/>
            </a:prstGeom>
          </p:spPr>
        </p:pic>
        <p:sp>
          <p:nvSpPr>
            <p:cNvPr id="31" name="Framework caption"/>
            <p:cNvSpPr txBox="1"/>
            <p:nvPr/>
          </p:nvSpPr>
          <p:spPr>
            <a:xfrm>
              <a:off x="1078992" y="18114264"/>
              <a:ext cx="85313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1. Conceptual framework – integrated search, QR e-Rx and stock integrity</a:t>
              </a:r>
            </a:p>
          </p:txBody>
        </p:sp>
      </p:grpSp>
      <p:grpSp>
        <p:nvGrpSpPr>
          <p:cNvPr id="32" name="Section 3 - System Design"/>
          <p:cNvGrpSpPr/>
          <p:nvPr/>
        </p:nvGrpSpPr>
        <p:grpSpPr>
          <a:xfrm>
            <a:off x="10562993" y="4224528"/>
            <a:ext cx="9244584" cy="15299005"/>
            <a:chOff x="10515600" y="4434840"/>
            <a:chExt cx="9244584" cy="14310360"/>
          </a:xfrm>
        </p:grpSpPr>
        <p:sp>
          <p:nvSpPr>
            <p:cNvPr id="33" name="Card"/>
            <p:cNvSpPr/>
            <p:nvPr/>
          </p:nvSpPr>
          <p:spPr>
            <a:xfrm>
              <a:off x="10515600" y="4434840"/>
              <a:ext cx="9244584" cy="14310360"/>
            </a:xfrm>
            <a:prstGeom prst="roundRect">
              <a:avLst>
                <a:gd name="adj" fmla="val 178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4" name="Number pill"/>
            <p:cNvSpPr/>
            <p:nvPr/>
          </p:nvSpPr>
          <p:spPr>
            <a:xfrm>
              <a:off x="10872216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5" name="Number"/>
            <p:cNvSpPr txBox="1"/>
            <p:nvPr/>
          </p:nvSpPr>
          <p:spPr>
            <a:xfrm>
              <a:off x="10872216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 dirty="0">
                  <a:solidFill>
                    <a:schemeClr val="bg1"/>
                  </a:solidFill>
                  <a:latin typeface="+mj-lt"/>
                </a:rPr>
                <a:t>3</a:t>
              </a:r>
            </a:p>
          </p:txBody>
        </p:sp>
        <p:sp>
          <p:nvSpPr>
            <p:cNvPr id="36" name="Heading"/>
            <p:cNvSpPr txBox="1"/>
            <p:nvPr/>
          </p:nvSpPr>
          <p:spPr>
            <a:xfrm>
              <a:off x="11996928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800" b="1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DESIGN</a:t>
              </a:r>
            </a:p>
          </p:txBody>
        </p:sp>
        <p:sp>
          <p:nvSpPr>
            <p:cNvPr id="37" name="Design list 1"/>
            <p:cNvSpPr txBox="1"/>
            <p:nvPr/>
          </p:nvSpPr>
          <p:spPr>
            <a:xfrm>
              <a:off x="10872216" y="5577840"/>
              <a:ext cx="4082796" cy="2037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Primary: medicine search, inventory, QR Rx generation, verification &amp; dispensing, stock integrity. Secondary: location, scanning, history, dashboards.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Django monolithic architecture with role-based access (Doctor, Nurse, Pharmacy Staff) and PostgreSQL database.</a:t>
              </a:r>
            </a:p>
            <a:p>
              <a:pPr marL="274320" indent="-274320" algn="l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Use-case diagram (RQ01–RQ09), ERD for</a:t>
              </a:r>
              <a:r>
                <a:rPr lang="en-GB"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</a:t>
              </a: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prescriptions/stock/dispensing, activity &amp; sequence diagrams for QR verification.</a:t>
              </a:r>
            </a:p>
          </p:txBody>
        </p:sp>
        <p:sp>
          <p:nvSpPr>
            <p:cNvPr id="38" name="Design list 2"/>
            <p:cNvSpPr txBox="1"/>
            <p:nvPr/>
          </p:nvSpPr>
          <p:spPr>
            <a:xfrm>
              <a:off x="15320772" y="5577840"/>
              <a:ext cx="4082796" cy="2037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Python, Django, PostgreSQL. Role-based permissions. Secure QR references (no readable medical data on code).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Research-informed design: findings from existing systems mapped to requirements and architecture decisions.</a:t>
              </a:r>
            </a:p>
            <a:p>
              <a:pPr marL="274320" indent="-274320" algn="l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Unit &amp; integration tests on core flows; transactional integrity checks; role-based access verification.</a:t>
              </a:r>
            </a:p>
          </p:txBody>
        </p:sp>
        <p:sp>
          <p:nvSpPr>
            <p:cNvPr id="39" name="Design box 1"/>
            <p:cNvSpPr/>
            <p:nvPr/>
          </p:nvSpPr>
          <p:spPr>
            <a:xfrm>
              <a:off x="10812104" y="10034225"/>
              <a:ext cx="1392940" cy="464629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wrap="square" lIns="73152" tIns="36576" rIns="73152" bIns="36576" rtlCol="0" anchor="ctr"/>
            <a:lstStyle/>
            <a:p>
              <a:pPr algn="ctr"/>
              <a:r>
                <a:rPr sz="1500" b="1" i="0" dirty="0">
                  <a:solidFill>
                    <a:schemeClr val="tx1"/>
                  </a:solidFill>
                  <a:latin typeface="+mn-lt"/>
                </a:rPr>
                <a:t>Users &amp;</a:t>
              </a:r>
            </a:p>
            <a:p>
              <a:pPr algn="ctr"/>
              <a:r>
                <a:rPr sz="1500" b="1" i="0" dirty="0">
                  <a:solidFill>
                    <a:schemeClr val="tx1"/>
                  </a:solidFill>
                  <a:latin typeface="+mn-lt"/>
                </a:rPr>
                <a:t>Requirements</a:t>
              </a:r>
            </a:p>
          </p:txBody>
        </p:sp>
        <p:sp>
          <p:nvSpPr>
            <p:cNvPr id="40" name="Arrow 1"/>
            <p:cNvSpPr/>
            <p:nvPr/>
          </p:nvSpPr>
          <p:spPr>
            <a:xfrm>
              <a:off x="12264005" y="10088276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1" name="Design box 2"/>
            <p:cNvSpPr/>
            <p:nvPr/>
          </p:nvSpPr>
          <p:spPr>
            <a:xfrm>
              <a:off x="12677352" y="9739831"/>
              <a:ext cx="1652778" cy="1006743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wrap="square" lIns="73152" tIns="36576" rIns="73152" bIns="36576" rtlCol="0" anchor="ctr"/>
            <a:lstStyle/>
            <a:p>
              <a:pPr algn="ctr"/>
              <a:r>
                <a:rPr sz="1500" b="1" i="0" dirty="0">
                  <a:solidFill>
                    <a:schemeClr val="tx1"/>
                  </a:solidFill>
                  <a:latin typeface="+mn-lt"/>
                </a:rPr>
                <a:t>Interface</a:t>
              </a:r>
            </a:p>
            <a:p>
              <a:pPr algn="ctr"/>
              <a:r>
                <a:rPr sz="1500" b="1" i="0" dirty="0">
                  <a:solidFill>
                    <a:schemeClr val="tx1"/>
                  </a:solidFill>
                  <a:latin typeface="+mn-lt"/>
                </a:rPr>
                <a:t>Layer</a:t>
              </a:r>
            </a:p>
          </p:txBody>
        </p:sp>
        <p:sp>
          <p:nvSpPr>
            <p:cNvPr id="42" name="Arrow 2"/>
            <p:cNvSpPr/>
            <p:nvPr/>
          </p:nvSpPr>
          <p:spPr>
            <a:xfrm>
              <a:off x="14433672" y="10064942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3" name="Design box 3"/>
            <p:cNvSpPr/>
            <p:nvPr/>
          </p:nvSpPr>
          <p:spPr>
            <a:xfrm>
              <a:off x="14839104" y="9681936"/>
              <a:ext cx="1652778" cy="1045470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wrap="square" lIns="73152" tIns="36576" rIns="73152" bIns="36576" rtlCol="0" anchor="ctr"/>
            <a:lstStyle/>
            <a:p>
              <a:pPr algn="ctr"/>
              <a:r>
                <a:rPr sz="1500" b="1" i="0" dirty="0">
                  <a:solidFill>
                    <a:schemeClr val="tx1"/>
                  </a:solidFill>
                  <a:latin typeface="+mn-lt"/>
                </a:rPr>
                <a:t>Application</a:t>
              </a:r>
            </a:p>
            <a:p>
              <a:pPr algn="ctr"/>
              <a:r>
                <a:rPr sz="1500" b="1" i="0" dirty="0">
                  <a:solidFill>
                    <a:schemeClr val="tx1"/>
                  </a:solidFill>
                  <a:latin typeface="+mn-lt"/>
                </a:rPr>
                <a:t>Logic / API</a:t>
              </a:r>
            </a:p>
          </p:txBody>
        </p:sp>
        <p:sp>
          <p:nvSpPr>
            <p:cNvPr id="44" name="Arrow 3"/>
            <p:cNvSpPr/>
            <p:nvPr/>
          </p:nvSpPr>
          <p:spPr>
            <a:xfrm>
              <a:off x="16564197" y="1006172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5" name="Design box 4"/>
            <p:cNvSpPr/>
            <p:nvPr/>
          </p:nvSpPr>
          <p:spPr>
            <a:xfrm>
              <a:off x="16934529" y="9659025"/>
              <a:ext cx="1652778" cy="1087550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wrap="square" lIns="73152" tIns="36576" rIns="73152" bIns="36576" rtlCol="0" anchor="ctr"/>
            <a:lstStyle/>
            <a:p>
              <a:pPr algn="ctr"/>
              <a:r>
                <a:rPr sz="1500" b="1" i="0" dirty="0">
                  <a:solidFill>
                    <a:schemeClr val="tx1"/>
                  </a:solidFill>
                  <a:latin typeface="+mn-lt"/>
                </a:rPr>
                <a:t>Data</a:t>
              </a:r>
            </a:p>
            <a:p>
              <a:pPr algn="ctr"/>
              <a:r>
                <a:rPr sz="1500" b="1" i="0" dirty="0">
                  <a:solidFill>
                    <a:schemeClr val="tx1"/>
                  </a:solidFill>
                  <a:latin typeface="+mn-lt"/>
                </a:rPr>
                <a:t>Layer</a:t>
              </a:r>
            </a:p>
          </p:txBody>
        </p:sp>
        <p:sp>
          <p:nvSpPr>
            <p:cNvPr id="46" name="Design caption"/>
            <p:cNvSpPr txBox="1"/>
            <p:nvPr/>
          </p:nvSpPr>
          <p:spPr>
            <a:xfrm>
              <a:off x="10872216" y="10809703"/>
              <a:ext cx="8531352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buNone/>
              </a:pPr>
              <a:r>
                <a:rPr sz="1500" b="0" i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2. High-level design – Users &amp; Requirements layers</a:t>
              </a:r>
            </a:p>
          </p:txBody>
        </p:sp>
        <p:pic>
          <p:nvPicPr>
            <p:cNvPr id="47" name="Architecture Diagram picture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814627" y="11358345"/>
              <a:ext cx="8718460" cy="3112662"/>
            </a:xfrm>
            <a:prstGeom prst="rect">
              <a:avLst/>
            </a:prstGeom>
          </p:spPr>
        </p:pic>
        <p:sp>
          <p:nvSpPr>
            <p:cNvPr id="48" name="Architecture Diagram caption"/>
            <p:cNvSpPr txBox="1"/>
            <p:nvPr/>
          </p:nvSpPr>
          <p:spPr>
            <a:xfrm>
              <a:off x="10872216" y="14565535"/>
              <a:ext cx="8531352" cy="3291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3. System architecture (Django + PostgreSQL)</a:t>
              </a:r>
            </a:p>
          </p:txBody>
        </p:sp>
        <p:pic>
          <p:nvPicPr>
            <p:cNvPr id="49" name="Erd / Uml / Wireframes picture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836539" y="15059311"/>
              <a:ext cx="8407994" cy="3344018"/>
            </a:xfrm>
            <a:prstGeom prst="rect">
              <a:avLst/>
            </a:prstGeom>
          </p:spPr>
        </p:pic>
        <p:sp>
          <p:nvSpPr>
            <p:cNvPr id="50" name="Erd / Uml / Wireframes caption"/>
            <p:cNvSpPr txBox="1"/>
            <p:nvPr/>
          </p:nvSpPr>
          <p:spPr>
            <a:xfrm>
              <a:off x="10872216" y="18378586"/>
              <a:ext cx="8531352" cy="3565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t>Figure 4. Core entity relationships for stock and prescriptions</a:t>
              </a:r>
            </a:p>
          </p:txBody>
        </p:sp>
      </p:grpSp>
      <p:grpSp>
        <p:nvGrpSpPr>
          <p:cNvPr id="51" name="Section 4 - Results &amp; Discussion"/>
          <p:cNvGrpSpPr/>
          <p:nvPr/>
        </p:nvGrpSpPr>
        <p:grpSpPr>
          <a:xfrm>
            <a:off x="20308824" y="4137757"/>
            <a:ext cx="9244584" cy="8686800"/>
            <a:chOff x="20308824" y="4434840"/>
            <a:chExt cx="9244584" cy="8686800"/>
          </a:xfrm>
        </p:grpSpPr>
        <p:sp>
          <p:nvSpPr>
            <p:cNvPr id="52" name="Card"/>
            <p:cNvSpPr/>
            <p:nvPr/>
          </p:nvSpPr>
          <p:spPr>
            <a:xfrm>
              <a:off x="20308824" y="4434840"/>
              <a:ext cx="9244584" cy="8686800"/>
            </a:xfrm>
            <a:prstGeom prst="roundRect">
              <a:avLst>
                <a:gd name="adj" fmla="val 189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3" name="Number pill"/>
            <p:cNvSpPr/>
            <p:nvPr/>
          </p:nvSpPr>
          <p:spPr>
            <a:xfrm>
              <a:off x="20665440" y="476402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4" name="Number"/>
            <p:cNvSpPr txBox="1"/>
            <p:nvPr/>
          </p:nvSpPr>
          <p:spPr>
            <a:xfrm>
              <a:off x="20665440" y="476402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 dirty="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  <p:sp>
          <p:nvSpPr>
            <p:cNvPr id="55" name="Heading"/>
            <p:cNvSpPr txBox="1"/>
            <p:nvPr/>
          </p:nvSpPr>
          <p:spPr>
            <a:xfrm>
              <a:off x="21790152" y="4681728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800" b="1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 &amp; DISCUSSION</a:t>
              </a:r>
            </a:p>
          </p:txBody>
        </p:sp>
        <p:sp>
          <p:nvSpPr>
            <p:cNvPr id="56" name="Results text"/>
            <p:cNvSpPr txBox="1"/>
            <p:nvPr/>
          </p:nvSpPr>
          <p:spPr>
            <a:xfrm>
              <a:off x="20665440" y="5577840"/>
              <a:ext cx="8531352" cy="1168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t>Working screens show medicine availability search, an issued secure QR prescription and facility inventory. The demonstration uses synthetic records. Evaluation against primary requirements (RQ01–RQ05) is pending.</a:t>
              </a:r>
            </a:p>
          </p:txBody>
        </p:sp>
        <p:pic>
          <p:nvPicPr>
            <p:cNvPr id="57" name="Artifact screenshot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665440" y="7301668"/>
              <a:ext cx="8531352" cy="3287084"/>
            </a:xfrm>
            <a:prstGeom prst="rect">
              <a:avLst/>
            </a:prstGeom>
          </p:spPr>
        </p:pic>
        <p:sp>
          <p:nvSpPr>
            <p:cNvPr id="58" name="Screenshot caption"/>
            <p:cNvSpPr txBox="1"/>
            <p:nvPr/>
          </p:nvSpPr>
          <p:spPr>
            <a:xfrm>
              <a:off x="20665440" y="10661904"/>
              <a:ext cx="85313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r>
                <a:t>Figure 5. MedLocate working screens using synthetic demonstration data</a:t>
              </a:r>
            </a:p>
          </p:txBody>
        </p:sp>
        <p:graphicFrame>
          <p:nvGraphicFramePr>
            <p:cNvPr id="59" name="Evaluation tabl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132607164"/>
                </p:ext>
              </p:extLst>
            </p:nvPr>
          </p:nvGraphicFramePr>
          <p:xfrm>
            <a:off x="20665440" y="11201400"/>
            <a:ext cx="8531352" cy="1645920"/>
          </p:xfrm>
          <a:graphic>
            <a:graphicData uri="http://schemas.openxmlformats.org/drawingml/2006/table">
              <a:tbl>
                <a:tblPr>
                  <a:tableStyleId>{5940675A-B579-460E-94D1-54222C63F5DA}</a:tableStyleId>
                </a:tblPr>
                <a:tblGrid>
                  <a:gridCol w="255940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241914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365016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365016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411480">
                  <a:tc>
                    <a:txBody>
                      <a:bodyPr/>
                      <a:lstStyle/>
                      <a:p>
                        <a:r>
                          <a:rPr sz="1600" b="1" i="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Evaluation criterion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1" i="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Method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1" i="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Target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1" i="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Result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11480"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Functionality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Test cases passed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[ ]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[ ]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11480"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Usability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User testing / SUS survey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[ ]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[ ]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11480"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Performance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Response time, accuracy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[ ]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600" b="0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[ ]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</p:grpSp>
      <p:grpSp>
        <p:nvGrpSpPr>
          <p:cNvPr id="60" name="Section 5 - Conclusion"/>
          <p:cNvGrpSpPr/>
          <p:nvPr/>
        </p:nvGrpSpPr>
        <p:grpSpPr>
          <a:xfrm>
            <a:off x="20398710" y="13107536"/>
            <a:ext cx="10198667" cy="3386477"/>
            <a:chOff x="20555880" y="13395960"/>
            <a:chExt cx="9494618" cy="2850832"/>
          </a:xfrm>
        </p:grpSpPr>
        <p:sp>
          <p:nvSpPr>
            <p:cNvPr id="61" name="Card"/>
            <p:cNvSpPr/>
            <p:nvPr/>
          </p:nvSpPr>
          <p:spPr>
            <a:xfrm>
              <a:off x="20555880" y="13395960"/>
              <a:ext cx="9494618" cy="2784919"/>
            </a:xfrm>
            <a:prstGeom prst="roundRect">
              <a:avLst>
                <a:gd name="adj" fmla="val 647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2" name="Number pill"/>
            <p:cNvSpPr/>
            <p:nvPr/>
          </p:nvSpPr>
          <p:spPr>
            <a:xfrm>
              <a:off x="20665440" y="13725144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3" name="Number"/>
            <p:cNvSpPr txBox="1"/>
            <p:nvPr/>
          </p:nvSpPr>
          <p:spPr>
            <a:xfrm>
              <a:off x="20665440" y="13725144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 dirty="0">
                  <a:solidFill>
                    <a:schemeClr val="bg1"/>
                  </a:solidFill>
                  <a:latin typeface="+mj-lt"/>
                </a:rPr>
                <a:t>5</a:t>
              </a:r>
            </a:p>
          </p:txBody>
        </p:sp>
        <p:sp>
          <p:nvSpPr>
            <p:cNvPr id="64" name="Heading"/>
            <p:cNvSpPr txBox="1"/>
            <p:nvPr/>
          </p:nvSpPr>
          <p:spPr>
            <a:xfrm>
              <a:off x="21790153" y="13642848"/>
              <a:ext cx="6942499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800" b="1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</p:txBody>
        </p:sp>
        <p:sp>
          <p:nvSpPr>
            <p:cNvPr id="65" name="Conclusion text"/>
            <p:cNvSpPr txBox="1"/>
            <p:nvPr/>
          </p:nvSpPr>
          <p:spPr>
            <a:xfrm>
              <a:off x="20665440" y="14538960"/>
              <a:ext cx="8606399" cy="1707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MedLocate integrates medicine availability search, secure QR e-prescriptions and transactional stock updates for authorized healthcare staff in Botswana.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Practical contribution: a single platform addressing fragmented search, prescribing and inventory processes aligned with Botswana’s eHealth Strategy.</a:t>
              </a:r>
            </a:p>
            <a:p>
              <a:pPr marL="274320" indent="-274320" algn="l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requirements (search, inventory, QR Rx, verification, stock integrity) are designed and being implemented; evaluation pending.</a:t>
              </a:r>
            </a:p>
          </p:txBody>
        </p:sp>
      </p:grpSp>
      <p:grpSp>
        <p:nvGrpSpPr>
          <p:cNvPr id="66" name="Section 6 - Recommendations &amp; Future Work"/>
          <p:cNvGrpSpPr/>
          <p:nvPr/>
        </p:nvGrpSpPr>
        <p:grpSpPr>
          <a:xfrm>
            <a:off x="20420880" y="16658605"/>
            <a:ext cx="9020471" cy="2880276"/>
            <a:chOff x="20308824" y="16203167"/>
            <a:chExt cx="8948912" cy="3967612"/>
          </a:xfrm>
        </p:grpSpPr>
        <p:sp>
          <p:nvSpPr>
            <p:cNvPr id="67" name="Card"/>
            <p:cNvSpPr/>
            <p:nvPr/>
          </p:nvSpPr>
          <p:spPr>
            <a:xfrm>
              <a:off x="20308824" y="16203167"/>
              <a:ext cx="8948912" cy="3967611"/>
            </a:xfrm>
            <a:prstGeom prst="roundRect">
              <a:avLst>
                <a:gd name="adj" fmla="val 6474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8" name="Number pill"/>
            <p:cNvSpPr/>
            <p:nvPr/>
          </p:nvSpPr>
          <p:spPr>
            <a:xfrm>
              <a:off x="20665440" y="16532352"/>
              <a:ext cx="914400" cy="54864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9" name="Number"/>
            <p:cNvSpPr txBox="1"/>
            <p:nvPr/>
          </p:nvSpPr>
          <p:spPr>
            <a:xfrm>
              <a:off x="20665440" y="16532352"/>
              <a:ext cx="91440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buNone/>
              </a:pPr>
              <a:r>
                <a:rPr sz="2200" b="1" i="0" dirty="0">
                  <a:solidFill>
                    <a:schemeClr val="bg1"/>
                  </a:solidFill>
                  <a:latin typeface="+mj-lt"/>
                </a:rPr>
                <a:t>6</a:t>
              </a:r>
            </a:p>
          </p:txBody>
        </p:sp>
        <p:sp>
          <p:nvSpPr>
            <p:cNvPr id="70" name="Heading"/>
            <p:cNvSpPr txBox="1"/>
            <p:nvPr/>
          </p:nvSpPr>
          <p:spPr>
            <a:xfrm>
              <a:off x="21662833" y="16475055"/>
              <a:ext cx="74157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800" b="1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RECOMMENDATIONS &amp; FUTURE WORK</a:t>
              </a:r>
            </a:p>
          </p:txBody>
        </p:sp>
        <p:sp>
          <p:nvSpPr>
            <p:cNvPr id="71" name="Recommendations text"/>
            <p:cNvSpPr txBox="1"/>
            <p:nvPr/>
          </p:nvSpPr>
          <p:spPr>
            <a:xfrm>
              <a:off x="20665440" y="17346168"/>
              <a:ext cx="8531352" cy="28246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Adopt role-based access and facility assignment. Train staff on QR workflow. Keep stock data current for reliable search results.</a:t>
              </a:r>
            </a:p>
            <a:p>
              <a:pPr marL="274320" indent="-274320" algn="l">
                <a:spcAft>
                  <a:spcPts val="10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Currently limited to </a:t>
              </a:r>
              <a:r>
                <a:rPr lang="en-GB"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authorized</a:t>
              </a: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staff (no patient access). Offline capability and full multi-facility scale testing still needed.</a:t>
              </a:r>
            </a:p>
            <a:p>
              <a:pPr marL="274320" indent="-274320" algn="l"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work: offline support, patient-facing features (if policy allows), mobile </a:t>
              </a:r>
              <a:r>
                <a:rPr lang="en-GB"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optimization</a:t>
              </a:r>
              <a:r>
                <a:rPr sz="2000" b="0" i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analytics dashboards and integration with national systems.</a:t>
              </a:r>
            </a:p>
          </p:txBody>
        </p:sp>
      </p:grpSp>
      <p:grpSp>
        <p:nvGrpSpPr>
          <p:cNvPr id="72" name="References and QR codes"/>
          <p:cNvGrpSpPr/>
          <p:nvPr/>
        </p:nvGrpSpPr>
        <p:grpSpPr>
          <a:xfrm>
            <a:off x="1344168" y="19792708"/>
            <a:ext cx="28831032" cy="1554480"/>
            <a:chOff x="722376" y="19110960"/>
            <a:chExt cx="28831032" cy="1554480"/>
          </a:xfrm>
        </p:grpSpPr>
        <p:sp>
          <p:nvSpPr>
            <p:cNvPr id="73" name="Panel"/>
            <p:cNvSpPr/>
            <p:nvPr/>
          </p:nvSpPr>
          <p:spPr>
            <a:xfrm>
              <a:off x="722376" y="19110960"/>
              <a:ext cx="28831032" cy="1554480"/>
            </a:xfrm>
            <a:prstGeom prst="roundRect">
              <a:avLst>
                <a:gd name="adj" fmla="val 10588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4" name="References label"/>
            <p:cNvSpPr txBox="1"/>
            <p:nvPr/>
          </p:nvSpPr>
          <p:spPr>
            <a:xfrm>
              <a:off x="1152144" y="19348704"/>
              <a:ext cx="2491740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2800" b="1" i="0" spc="300" dirty="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</a:p>
          </p:txBody>
        </p:sp>
        <p:sp>
          <p:nvSpPr>
            <p:cNvPr id="75" name="References list"/>
            <p:cNvSpPr txBox="1"/>
            <p:nvPr/>
          </p:nvSpPr>
          <p:spPr>
            <a:xfrm>
              <a:off x="1152144" y="19769328"/>
              <a:ext cx="2491740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0" i="0" dirty="0">
                  <a:solidFill>
                    <a:schemeClr val="bg1">
                      <a:lumMod val="8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Botswana Ministry of Health. (2020). Botswana eHealth Strategy 2020-2024.  |  ChekaMeds. (n.d.).  |  mSupply Foundation. (n.d.).  |  NHS England. (2026). Electronic Prescription Service.  |  OpenLMIS. (n.d.).  |  Reuters. (2025). Botswana declares public health emergency…  |  WHO Regional Office for Africa. (2025). Botswana bets on the digital future…</a:t>
              </a:r>
            </a:p>
          </p:txBody>
        </p:sp>
        <p:pic>
          <p:nvPicPr>
            <p:cNvPr id="76" name="Code QR picture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026360" y="19275552"/>
              <a:ext cx="1225296" cy="1225296"/>
            </a:xfrm>
            <a:prstGeom prst="rect">
              <a:avLst/>
            </a:prstGeom>
          </p:spPr>
        </p:pic>
        <p:pic>
          <p:nvPicPr>
            <p:cNvPr id="77" name="Demo QR picture" descr="imag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6343864" y="19275552"/>
              <a:ext cx="1225296" cy="12252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164</TotalTime>
  <Words>826</Words>
  <Application>Microsoft Office PowerPoint</Application>
  <PresentationFormat>Custom</PresentationFormat>
  <Paragraphs>93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Development Poster Template B</dc:title>
  <dc:subject>PptxGenJS Presentation</dc:subject>
  <dc:creator>BSBS</dc:creator>
  <cp:lastModifiedBy>Tlamelo Molly Mokenti</cp:lastModifiedBy>
  <cp:revision>4</cp:revision>
  <dcterms:created xsi:type="dcterms:W3CDTF">2026-10-12T06:40:15Z</dcterms:created>
  <dcterms:modified xsi:type="dcterms:W3CDTF">2026-10-21T22:34:44Z</dcterms:modified>
</cp:coreProperties>
</file>