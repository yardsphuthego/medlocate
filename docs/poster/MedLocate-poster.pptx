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3"/>
  </p:notesMasterIdLst>
  <p:sldIdLst>
    <p:sldId id="256" r:id="rId2"/>
  </p:sldIdLst>
  <p:sldSz cx="30275213" cy="21383625"/>
  <p:notesSz cx="30275213" cy="2138362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55">
          <p15:clr>
            <a:srgbClr val="A4A3A4"/>
          </p15:clr>
        </p15:guide>
        <p15:guide id="2" orient="horz" pos="13015">
          <p15:clr>
            <a:srgbClr val="A4A3A4"/>
          </p15:clr>
        </p15:guide>
        <p15:guide id="3" pos="455">
          <p15:clr>
            <a:srgbClr val="A4A3A4"/>
          </p15:clr>
        </p15:guide>
        <p15:guide id="4" pos="18616">
          <p15:clr>
            <a:srgbClr val="A4A3A4"/>
          </p15:clr>
        </p15:guide>
        <p15:guide id="5" pos="6278">
          <p15:clr>
            <a:srgbClr val="A4A3A4"/>
          </p15:clr>
        </p15:guide>
        <p15:guide id="6" pos="6624">
          <p15:clr>
            <a:srgbClr val="A4A3A4"/>
          </p15:clr>
        </p15:guide>
        <p15:guide id="7" pos="12447">
          <p15:clr>
            <a:srgbClr val="A4A3A4"/>
          </p15:clr>
        </p15:guide>
        <p15:guide id="8" pos="1279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7" d="100"/>
          <a:sy n="27" d="100"/>
        </p:scale>
        <p:origin x="1282" y="43"/>
      </p:cViewPr>
      <p:guideLst>
        <p:guide orient="horz" pos="455"/>
        <p:guide orient="horz" pos="13015"/>
        <p:guide pos="455"/>
        <p:guide pos="18616"/>
        <p:guide pos="6278"/>
        <p:guide pos="6624"/>
        <p:guide pos="12447"/>
        <p:guide pos="127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e Atlang Moremi" userId="89665e8b-9d33-4102-88d1-2e3fda6e28c4" providerId="ADAL" clId="{0D8A41DB-FEA3-42AD-AD40-90658EA8B8CD}"/>
    <pc:docChg chg="modSld">
      <pc:chgData name="Ame Atlang Moremi" userId="89665e8b-9d33-4102-88d1-2e3fda6e28c4" providerId="ADAL" clId="{0D8A41DB-FEA3-42AD-AD40-90658EA8B8CD}" dt="2026-10-20T20:47:48.561" v="6" actId="14100"/>
      <pc:docMkLst>
        <pc:docMk/>
      </pc:docMkLst>
      <pc:sldChg chg="modSp mod">
        <pc:chgData name="Ame Atlang Moremi" userId="89665e8b-9d33-4102-88d1-2e3fda6e28c4" providerId="ADAL" clId="{0D8A41DB-FEA3-42AD-AD40-90658EA8B8CD}" dt="2026-10-20T20:47:48.561" v="6" actId="14100"/>
        <pc:sldMkLst>
          <pc:docMk/>
          <pc:sldMk cId="0" sldId="256"/>
        </pc:sldMkLst>
        <pc:spChg chg="mod">
          <ac:chgData name="Ame Atlang Moremi" userId="89665e8b-9d33-4102-88d1-2e3fda6e28c4" providerId="ADAL" clId="{0D8A41DB-FEA3-42AD-AD40-90658EA8B8CD}" dt="2026-10-20T20:47:48.561" v="6" actId="14100"/>
          <ac:spMkLst>
            <pc:docMk/>
            <pc:sldMk cId="0" sldId="256"/>
            <ac:spMk id="39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8192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3499590"/>
            <a:ext cx="25733931" cy="7444669"/>
          </a:xfrm>
        </p:spPr>
        <p:txBody>
          <a:bodyPr anchor="b"/>
          <a:lstStyle>
            <a:lvl1pPr algn="ctr">
              <a:defRPr sz="187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11231355"/>
            <a:ext cx="22706410" cy="5162758"/>
          </a:xfrm>
        </p:spPr>
        <p:txBody>
          <a:bodyPr/>
          <a:lstStyle>
            <a:lvl1pPr marL="0" indent="0" algn="ctr">
              <a:buNone/>
              <a:defRPr sz="7483"/>
            </a:lvl1pPr>
            <a:lvl2pPr marL="1425595" indent="0" algn="ctr">
              <a:buNone/>
              <a:defRPr sz="6236"/>
            </a:lvl2pPr>
            <a:lvl3pPr marL="2851191" indent="0" algn="ctr">
              <a:buNone/>
              <a:defRPr sz="5613"/>
            </a:lvl3pPr>
            <a:lvl4pPr marL="4276786" indent="0" algn="ctr">
              <a:buNone/>
              <a:defRPr sz="4989"/>
            </a:lvl4pPr>
            <a:lvl5pPr marL="5702381" indent="0" algn="ctr">
              <a:buNone/>
              <a:defRPr sz="4989"/>
            </a:lvl5pPr>
            <a:lvl6pPr marL="7127977" indent="0" algn="ctr">
              <a:buNone/>
              <a:defRPr sz="4989"/>
            </a:lvl6pPr>
            <a:lvl7pPr marL="8553572" indent="0" algn="ctr">
              <a:buNone/>
              <a:defRPr sz="4989"/>
            </a:lvl7pPr>
            <a:lvl8pPr marL="9979167" indent="0" algn="ctr">
              <a:buNone/>
              <a:defRPr sz="4989"/>
            </a:lvl8pPr>
            <a:lvl9pPr marL="11404763" indent="0" algn="ctr">
              <a:buNone/>
              <a:defRPr sz="4989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09611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341829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5331063"/>
            <a:ext cx="26112371" cy="8894992"/>
          </a:xfrm>
        </p:spPr>
        <p:txBody>
          <a:bodyPr anchor="b"/>
          <a:lstStyle>
            <a:lvl1pPr>
              <a:defRPr sz="187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14310205"/>
            <a:ext cx="26112371" cy="4677666"/>
          </a:xfrm>
        </p:spPr>
        <p:txBody>
          <a:bodyPr/>
          <a:lstStyle>
            <a:lvl1pPr marL="0" indent="0">
              <a:buNone/>
              <a:defRPr sz="7483">
                <a:solidFill>
                  <a:schemeClr val="tx1"/>
                </a:solidFill>
              </a:defRPr>
            </a:lvl1pPr>
            <a:lvl2pPr marL="1425595" indent="0">
              <a:buNone/>
              <a:defRPr sz="6236">
                <a:solidFill>
                  <a:schemeClr val="tx1">
                    <a:tint val="75000"/>
                  </a:schemeClr>
                </a:solidFill>
              </a:defRPr>
            </a:lvl2pPr>
            <a:lvl3pPr marL="2851191" indent="0">
              <a:buNone/>
              <a:defRPr sz="5613">
                <a:solidFill>
                  <a:schemeClr val="tx1">
                    <a:tint val="75000"/>
                  </a:schemeClr>
                </a:solidFill>
              </a:defRPr>
            </a:lvl3pPr>
            <a:lvl4pPr marL="4276786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4pPr>
            <a:lvl5pPr marL="5702381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5pPr>
            <a:lvl6pPr marL="7127977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6pPr>
            <a:lvl7pPr marL="8553572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7pPr>
            <a:lvl8pPr marL="9979167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8pPr>
            <a:lvl9pPr marL="11404763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48026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5692400"/>
            <a:ext cx="12866966" cy="13567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5692400"/>
            <a:ext cx="12866966" cy="13567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156282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138485"/>
            <a:ext cx="26112371" cy="413317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5241960"/>
            <a:ext cx="12807832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7810963"/>
            <a:ext cx="12807832" cy="11488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5241960"/>
            <a:ext cx="12870909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7810963"/>
            <a:ext cx="12870909" cy="11488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124213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006703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160322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3078850"/>
            <a:ext cx="15326827" cy="15196234"/>
          </a:xfrm>
        </p:spPr>
        <p:txBody>
          <a:bodyPr/>
          <a:lstStyle>
            <a:lvl1pPr>
              <a:defRPr sz="9978"/>
            </a:lvl1pPr>
            <a:lvl2pPr>
              <a:defRPr sz="8731"/>
            </a:lvl2pPr>
            <a:lvl3pPr>
              <a:defRPr sz="7483"/>
            </a:lvl3pPr>
            <a:lvl4pPr>
              <a:defRPr sz="6236"/>
            </a:lvl4pPr>
            <a:lvl5pPr>
              <a:defRPr sz="6236"/>
            </a:lvl5pPr>
            <a:lvl6pPr>
              <a:defRPr sz="6236"/>
            </a:lvl6pPr>
            <a:lvl7pPr>
              <a:defRPr sz="6236"/>
            </a:lvl7pPr>
            <a:lvl8pPr>
              <a:defRPr sz="6236"/>
            </a:lvl8pPr>
            <a:lvl9pPr>
              <a:defRPr sz="6236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077025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3078850"/>
            <a:ext cx="15326827" cy="15196234"/>
          </a:xfrm>
        </p:spPr>
        <p:txBody>
          <a:bodyPr anchor="t"/>
          <a:lstStyle>
            <a:lvl1pPr marL="0" indent="0">
              <a:buNone/>
              <a:defRPr sz="9978"/>
            </a:lvl1pPr>
            <a:lvl2pPr marL="1425595" indent="0">
              <a:buNone/>
              <a:defRPr sz="8731"/>
            </a:lvl2pPr>
            <a:lvl3pPr marL="2851191" indent="0">
              <a:buNone/>
              <a:defRPr sz="7483"/>
            </a:lvl3pPr>
            <a:lvl4pPr marL="4276786" indent="0">
              <a:buNone/>
              <a:defRPr sz="6236"/>
            </a:lvl4pPr>
            <a:lvl5pPr marL="5702381" indent="0">
              <a:buNone/>
              <a:defRPr sz="6236"/>
            </a:lvl5pPr>
            <a:lvl6pPr marL="7127977" indent="0">
              <a:buNone/>
              <a:defRPr sz="6236"/>
            </a:lvl6pPr>
            <a:lvl7pPr marL="8553572" indent="0">
              <a:buNone/>
              <a:defRPr sz="6236"/>
            </a:lvl7pPr>
            <a:lvl8pPr marL="9979167" indent="0">
              <a:buNone/>
              <a:defRPr sz="6236"/>
            </a:lvl8pPr>
            <a:lvl9pPr marL="11404763" indent="0">
              <a:buNone/>
              <a:defRPr sz="6236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35183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44907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1138480"/>
            <a:ext cx="6528093" cy="1812163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1138480"/>
            <a:ext cx="19205838" cy="1812163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776700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69176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1138485"/>
            <a:ext cx="26112371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5692400"/>
            <a:ext cx="26112371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4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19819457"/>
            <a:ext cx="1021788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4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4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01113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2851191" rtl="0" eaLnBrk="1" latinLnBrk="0" hangingPunct="1">
        <a:lnSpc>
          <a:spcPct val="90000"/>
        </a:lnSpc>
        <a:spcBef>
          <a:spcPct val="0"/>
        </a:spcBef>
        <a:buNone/>
        <a:defRPr sz="137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2798" indent="-712798" algn="l" defTabSz="2851191" rtl="0" eaLnBrk="1" latinLnBrk="0" hangingPunct="1">
        <a:lnSpc>
          <a:spcPct val="90000"/>
        </a:lnSpc>
        <a:spcBef>
          <a:spcPts val="3118"/>
        </a:spcBef>
        <a:buFont typeface="Arial" panose="020B0604020202020204" pitchFamily="34" charset="0"/>
        <a:buChar char="•"/>
        <a:defRPr sz="8731" kern="1200">
          <a:solidFill>
            <a:schemeClr val="tx1"/>
          </a:solidFill>
          <a:latin typeface="+mn-lt"/>
          <a:ea typeface="+mn-ea"/>
          <a:cs typeface="+mn-cs"/>
        </a:defRPr>
      </a:lvl1pPr>
      <a:lvl2pPr marL="2138393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7483" kern="1200">
          <a:solidFill>
            <a:schemeClr val="tx1"/>
          </a:solidFill>
          <a:latin typeface="+mn-lt"/>
          <a:ea typeface="+mn-ea"/>
          <a:cs typeface="+mn-cs"/>
        </a:defRPr>
      </a:lvl2pPr>
      <a:lvl3pPr marL="3563988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3pPr>
      <a:lvl4pPr marL="498958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6415179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84077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926637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10691965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211756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1pPr>
      <a:lvl2pPr marL="1425595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2pPr>
      <a:lvl3pPr marL="285119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3pPr>
      <a:lvl4pPr marL="4276786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570238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12797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8553572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997916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1404763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Title block"/>
          <p:cNvGrpSpPr/>
          <p:nvPr/>
        </p:nvGrpSpPr>
        <p:grpSpPr>
          <a:xfrm>
            <a:off x="685229" y="795528"/>
            <a:ext cx="18599467" cy="3264408"/>
            <a:chOff x="685229" y="795528"/>
            <a:chExt cx="18599467" cy="3264408"/>
          </a:xfrm>
        </p:grpSpPr>
        <p:sp>
          <p:nvSpPr>
            <p:cNvPr id="3" name="Eyebrow"/>
            <p:cNvSpPr txBox="1"/>
            <p:nvPr/>
          </p:nvSpPr>
          <p:spPr>
            <a:xfrm>
              <a:off x="722376" y="795528"/>
              <a:ext cx="18562320" cy="39319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700" b="1" i="0" spc="300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BSBS  •  SYSTEM DEVELOPMENT PROJECT</a:t>
              </a:r>
            </a:p>
          </p:txBody>
        </p:sp>
        <p:sp>
          <p:nvSpPr>
            <p:cNvPr id="4" name="Project title"/>
            <p:cNvSpPr txBox="1"/>
            <p:nvPr/>
          </p:nvSpPr>
          <p:spPr>
            <a:xfrm>
              <a:off x="685229" y="1243584"/>
              <a:ext cx="18562320" cy="11887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buNone/>
              </a:pPr>
              <a:r>
                <a:rPr sz="54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MedLocate</a:t>
              </a:r>
            </a:p>
          </p:txBody>
        </p:sp>
        <p:sp>
          <p:nvSpPr>
            <p:cNvPr id="5" name="Description"/>
            <p:cNvSpPr txBox="1"/>
            <p:nvPr/>
          </p:nvSpPr>
          <p:spPr>
            <a:xfrm>
              <a:off x="722376" y="2532888"/>
              <a:ext cx="18562320" cy="5029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2200" b="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web platform for licensed healthcare workers in Botswana to find available medicines and manage secure QR prescriptions</a:t>
              </a:r>
            </a:p>
          </p:txBody>
        </p:sp>
        <p:sp>
          <p:nvSpPr>
            <p:cNvPr id="6" name="Group members"/>
            <p:cNvSpPr txBox="1"/>
            <p:nvPr/>
          </p:nvSpPr>
          <p:spPr>
            <a:xfrm>
              <a:off x="722376" y="3118104"/>
              <a:ext cx="1856232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Group Members:  </a:t>
              </a:r>
              <a:r>
                <a:rPr lang="en-US" sz="20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Mmetla </a:t>
              </a:r>
              <a:r>
                <a:rPr lang="en-US" sz="20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Leboa Rami Sejoe</a:t>
              </a:r>
              <a:r>
                <a:rPr sz="2000" b="0" i="0" dirty="0">
                  <a:solidFill>
                    <a:schemeClr val="tx1"/>
                  </a:solidFill>
                  <a:latin typeface="+mn-lt"/>
                </a:rPr>
                <a:t> | </a:t>
              </a:r>
              <a:r>
                <a:rPr lang="en-US" sz="20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Mmoloki Phuthego</a:t>
              </a:r>
              <a:r>
                <a:rPr sz="2000" b="0" i="0" dirty="0">
                  <a:solidFill>
                    <a:schemeClr val="tx1"/>
                  </a:solidFill>
                  <a:latin typeface="+mn-lt"/>
                </a:rPr>
                <a:t> |  </a:t>
              </a:r>
              <a:r>
                <a:rPr lang="en-US" sz="20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Ame Atlang Moremi</a:t>
              </a:r>
              <a:r>
                <a:rPr sz="2000" b="0" i="0" dirty="0">
                  <a:solidFill>
                    <a:schemeClr val="tx1"/>
                  </a:solidFill>
                  <a:latin typeface="+mn-lt"/>
                </a:rPr>
                <a:t>|  </a:t>
              </a:r>
              <a:r>
                <a:rPr lang="en-US" sz="20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Tlamelo Molly Mokenti</a:t>
              </a:r>
              <a:endParaRPr sz="2000" b="0" i="0" dirty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" name="Institution"/>
            <p:cNvSpPr txBox="1"/>
            <p:nvPr/>
          </p:nvSpPr>
          <p:spPr>
            <a:xfrm>
              <a:off x="722376" y="3648456"/>
              <a:ext cx="18562320" cy="411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lang="en-GB" sz="1700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Botswana School of Business Sciences</a:t>
              </a:r>
              <a:r>
                <a:rPr sz="1700" b="0" i="0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•  [</a:t>
              </a:r>
              <a:r>
                <a:rPr lang="en-GB" sz="1700" b="0" i="0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BSc (Hons) in Network Computing</a:t>
              </a:r>
              <a:r>
                <a:rPr sz="1700" b="0" i="0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]  •</a:t>
              </a:r>
              <a:r>
                <a:rPr lang="en-BW" sz="1700" b="0" i="0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[</a:t>
              </a:r>
              <a:r>
                <a:rPr lang="en-GB" sz="1700" b="0" i="0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2026</a:t>
              </a:r>
              <a:r>
                <a:rPr sz="1700" b="0" i="0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+mn-lt"/>
                </a:rPr>
                <a:t>]</a:t>
              </a:r>
            </a:p>
          </p:txBody>
        </p:sp>
      </p:grpSp>
      <p:grpSp>
        <p:nvGrpSpPr>
          <p:cNvPr id="8" name="Project facts"/>
          <p:cNvGrpSpPr/>
          <p:nvPr/>
        </p:nvGrpSpPr>
        <p:grpSpPr>
          <a:xfrm>
            <a:off x="20308824" y="574126"/>
            <a:ext cx="9244584" cy="3291840"/>
            <a:chOff x="20308824" y="722376"/>
            <a:chExt cx="9244584" cy="3291840"/>
          </a:xfrm>
        </p:grpSpPr>
        <p:sp>
          <p:nvSpPr>
            <p:cNvPr id="9" name="Panel"/>
            <p:cNvSpPr/>
            <p:nvPr/>
          </p:nvSpPr>
          <p:spPr>
            <a:xfrm>
              <a:off x="20308824" y="722376"/>
              <a:ext cx="9244584" cy="3291840"/>
            </a:xfrm>
            <a:prstGeom prst="roundRect">
              <a:avLst>
                <a:gd name="adj" fmla="val 5000"/>
              </a:avLst>
            </a:prstGeom>
            <a:solidFill>
              <a:schemeClr val="tx2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pic>
          <p:nvPicPr>
            <p:cNvPr id="10" name="Logo picture"/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26965656" y="1336970"/>
              <a:ext cx="2221992" cy="1760879"/>
            </a:xfrm>
            <a:prstGeom prst="rect">
              <a:avLst/>
            </a:prstGeom>
          </p:spPr>
        </p:pic>
        <p:sp>
          <p:nvSpPr>
            <p:cNvPr id="11" name="Tech Stack label"/>
            <p:cNvSpPr txBox="1"/>
            <p:nvPr/>
          </p:nvSpPr>
          <p:spPr>
            <a:xfrm>
              <a:off x="20738592" y="996696"/>
              <a:ext cx="6428232" cy="32918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400" b="1" i="0" spc="300" dirty="0">
                  <a:solidFill>
                    <a:schemeClr val="accent1">
                      <a:lumMod val="55000"/>
                      <a:lumOff val="45000"/>
                    </a:schemeClr>
                  </a:solidFill>
                  <a:latin typeface="+mn-lt"/>
                </a:rPr>
                <a:t>TECH STACK</a:t>
              </a:r>
            </a:p>
          </p:txBody>
        </p:sp>
        <p:sp>
          <p:nvSpPr>
            <p:cNvPr id="12" name="Tech Stack value"/>
            <p:cNvSpPr txBox="1"/>
            <p:nvPr/>
          </p:nvSpPr>
          <p:spPr>
            <a:xfrm>
              <a:off x="20738592" y="1344168"/>
              <a:ext cx="6428232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900" b="0" i="0" dirty="0">
                  <a:solidFill>
                    <a:schemeClr val="bg1"/>
                  </a:solidFill>
                  <a:latin typeface="+mn-lt"/>
                </a:rPr>
                <a:t>Python · Django · PostgreSQL</a:t>
              </a:r>
            </a:p>
          </p:txBody>
        </p:sp>
        <p:sp>
          <p:nvSpPr>
            <p:cNvPr id="13" name="Duration label"/>
            <p:cNvSpPr txBox="1"/>
            <p:nvPr/>
          </p:nvSpPr>
          <p:spPr>
            <a:xfrm>
              <a:off x="20738592" y="1941576"/>
              <a:ext cx="6428232" cy="32918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400" b="1" i="0" spc="300" dirty="0">
                  <a:solidFill>
                    <a:schemeClr val="accent1">
                      <a:lumMod val="55000"/>
                      <a:lumOff val="45000"/>
                    </a:schemeClr>
                  </a:solidFill>
                  <a:latin typeface="+mn-lt"/>
                </a:rPr>
                <a:t>DURATION</a:t>
              </a:r>
            </a:p>
          </p:txBody>
        </p:sp>
        <p:sp>
          <p:nvSpPr>
            <p:cNvPr id="14" name="Duration value"/>
            <p:cNvSpPr txBox="1"/>
            <p:nvPr/>
          </p:nvSpPr>
          <p:spPr>
            <a:xfrm>
              <a:off x="20738592" y="2289048"/>
              <a:ext cx="6428232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900" b="0" i="0" dirty="0">
                  <a:solidFill>
                    <a:schemeClr val="bg1"/>
                  </a:solidFill>
                  <a:latin typeface="+mn-lt"/>
                </a:rPr>
                <a:t>[To be filled]</a:t>
              </a:r>
            </a:p>
          </p:txBody>
        </p:sp>
        <p:sp>
          <p:nvSpPr>
            <p:cNvPr id="15" name="Supervisor label"/>
            <p:cNvSpPr txBox="1"/>
            <p:nvPr/>
          </p:nvSpPr>
          <p:spPr>
            <a:xfrm>
              <a:off x="20738592" y="2886456"/>
              <a:ext cx="6428232" cy="32918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400" b="1" i="0" spc="300" dirty="0">
                  <a:solidFill>
                    <a:schemeClr val="accent1">
                      <a:lumMod val="55000"/>
                      <a:lumOff val="45000"/>
                    </a:schemeClr>
                  </a:solidFill>
                  <a:latin typeface="+mn-lt"/>
                </a:rPr>
                <a:t>SUPERVISOR</a:t>
              </a:r>
            </a:p>
          </p:txBody>
        </p:sp>
        <p:sp>
          <p:nvSpPr>
            <p:cNvPr id="16" name="Supervisor value"/>
            <p:cNvSpPr txBox="1"/>
            <p:nvPr/>
          </p:nvSpPr>
          <p:spPr>
            <a:xfrm>
              <a:off x="20738592" y="3176146"/>
              <a:ext cx="6428232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lang="en-GB" sz="20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Mr. Resego Tom Rabalone</a:t>
              </a:r>
              <a:endParaRPr sz="2000" b="0" i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7" name="Section 1 - Introduction &amp; Problem Statement"/>
          <p:cNvGrpSpPr/>
          <p:nvPr/>
        </p:nvGrpSpPr>
        <p:grpSpPr>
          <a:xfrm>
            <a:off x="347472" y="4233823"/>
            <a:ext cx="9427464" cy="5575808"/>
            <a:chOff x="722376" y="4434840"/>
            <a:chExt cx="9244584" cy="4273792"/>
          </a:xfrm>
        </p:grpSpPr>
        <p:sp>
          <p:nvSpPr>
            <p:cNvPr id="18" name="Card"/>
            <p:cNvSpPr/>
            <p:nvPr/>
          </p:nvSpPr>
          <p:spPr>
            <a:xfrm>
              <a:off x="722376" y="4434840"/>
              <a:ext cx="9244584" cy="3931920"/>
            </a:xfrm>
            <a:prstGeom prst="roundRect">
              <a:avLst>
                <a:gd name="adj" fmla="val 4186"/>
              </a:avLst>
            </a:prstGeom>
            <a:solidFill>
              <a:schemeClr val="bg2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19" name="Number pill"/>
            <p:cNvSpPr/>
            <p:nvPr/>
          </p:nvSpPr>
          <p:spPr>
            <a:xfrm>
              <a:off x="1078992" y="4764024"/>
              <a:ext cx="914400" cy="5486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20" name="Number"/>
            <p:cNvSpPr txBox="1"/>
            <p:nvPr/>
          </p:nvSpPr>
          <p:spPr>
            <a:xfrm>
              <a:off x="1078992" y="4764024"/>
              <a:ext cx="91440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sz="2200" b="1" i="0" dirty="0">
                  <a:solidFill>
                    <a:schemeClr val="bg1"/>
                  </a:solidFill>
                  <a:latin typeface="+mj-lt"/>
                </a:rPr>
                <a:t>1</a:t>
              </a:r>
            </a:p>
          </p:txBody>
        </p:sp>
        <p:sp>
          <p:nvSpPr>
            <p:cNvPr id="21" name="Heading"/>
            <p:cNvSpPr txBox="1"/>
            <p:nvPr/>
          </p:nvSpPr>
          <p:spPr>
            <a:xfrm>
              <a:off x="2203704" y="4681728"/>
              <a:ext cx="7415784" cy="7223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buNone/>
              </a:pPr>
              <a:r>
                <a:rPr sz="28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INTRODUCTION &amp; PROBLEM STATEMENT</a:t>
              </a:r>
            </a:p>
          </p:txBody>
        </p:sp>
        <p:sp>
          <p:nvSpPr>
            <p:cNvPr id="22" name="Introduction text"/>
            <p:cNvSpPr txBox="1"/>
            <p:nvPr/>
          </p:nvSpPr>
          <p:spPr>
            <a:xfrm>
              <a:off x="1078991" y="5693406"/>
              <a:ext cx="8762436" cy="301522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Aft>
                  <a:spcPts val="400"/>
                </a:spcAft>
                <a:buNone/>
              </a:pPr>
              <a:r>
                <a:rPr sz="1600" b="1" i="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Background</a:t>
              </a:r>
            </a:p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 2025 Botswana faced medicine shortages. WHO notes gaps in health data and supply chains that digital health can address.</a:t>
              </a:r>
            </a:p>
            <a:p>
              <a:pPr marL="274320" indent="-274320" algn="l">
                <a:spcAft>
                  <a:spcPts val="16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Doctors, nurses and pharmacists lack a single system to check stock, prescribe securely and dispense while updating inventory.</a:t>
              </a:r>
            </a:p>
            <a:p>
              <a:pPr algn="l">
                <a:spcAft>
                  <a:spcPts val="400"/>
                </a:spcAft>
                <a:buNone/>
              </a:pPr>
              <a:r>
                <a:rPr sz="1600" b="1" i="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Problem Statement</a:t>
              </a:r>
            </a:p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No integrated platform currently links medicine search, secure QR e-prescriptions and automatic stock deduction for authorized healthcare staff.</a:t>
              </a:r>
            </a:p>
            <a:p>
              <a:pPr marL="274320" indent="-274320" algn="l"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Existing tools handle search, inventory or e-prescribing in isolation; none combine all three for Botswana’s health facilities.</a:t>
              </a:r>
            </a:p>
          </p:txBody>
        </p:sp>
      </p:grpSp>
      <p:grpSp>
        <p:nvGrpSpPr>
          <p:cNvPr id="23" name="Section 2 - Literature Review"/>
          <p:cNvGrpSpPr/>
          <p:nvPr/>
        </p:nvGrpSpPr>
        <p:grpSpPr>
          <a:xfrm>
            <a:off x="475033" y="9581441"/>
            <a:ext cx="9379300" cy="10046675"/>
            <a:chOff x="722376" y="8641080"/>
            <a:chExt cx="9244584" cy="10513101"/>
          </a:xfrm>
        </p:grpSpPr>
        <p:sp>
          <p:nvSpPr>
            <p:cNvPr id="24" name="Card"/>
            <p:cNvSpPr/>
            <p:nvPr/>
          </p:nvSpPr>
          <p:spPr>
            <a:xfrm>
              <a:off x="722376" y="8641080"/>
              <a:ext cx="9244584" cy="10104120"/>
            </a:xfrm>
            <a:prstGeom prst="roundRect">
              <a:avLst>
                <a:gd name="adj" fmla="val 1780"/>
              </a:avLst>
            </a:prstGeom>
            <a:solidFill>
              <a:schemeClr val="bg2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25" name="Number pill"/>
            <p:cNvSpPr/>
            <p:nvPr/>
          </p:nvSpPr>
          <p:spPr>
            <a:xfrm>
              <a:off x="1078992" y="8970264"/>
              <a:ext cx="914400" cy="5486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26" name="Number"/>
            <p:cNvSpPr txBox="1"/>
            <p:nvPr/>
          </p:nvSpPr>
          <p:spPr>
            <a:xfrm>
              <a:off x="1078992" y="8970264"/>
              <a:ext cx="91440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sz="2200" b="1" i="0" dirty="0">
                  <a:solidFill>
                    <a:schemeClr val="bg1"/>
                  </a:solidFill>
                  <a:latin typeface="+mj-lt"/>
                </a:rPr>
                <a:t>2</a:t>
              </a:r>
            </a:p>
          </p:txBody>
        </p:sp>
        <p:sp>
          <p:nvSpPr>
            <p:cNvPr id="27" name="Heading"/>
            <p:cNvSpPr txBox="1"/>
            <p:nvPr/>
          </p:nvSpPr>
          <p:spPr>
            <a:xfrm>
              <a:off x="2073013" y="8887968"/>
              <a:ext cx="7415784" cy="7223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buNone/>
              </a:pPr>
              <a:r>
                <a:rPr sz="28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LITERATURE REVIEW</a:t>
              </a:r>
            </a:p>
          </p:txBody>
        </p:sp>
        <p:sp>
          <p:nvSpPr>
            <p:cNvPr id="28" name="Literature review text"/>
            <p:cNvSpPr txBox="1"/>
            <p:nvPr/>
          </p:nvSpPr>
          <p:spPr>
            <a:xfrm>
              <a:off x="1078992" y="9784080"/>
              <a:ext cx="8531352" cy="1584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Digital health integration of inventory, e-prescribing and dispensing supports Botswana’s eHealth Strategy and WHO digital-health goals.</a:t>
              </a:r>
            </a:p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ChekaMeds (search), OpenLMIS (stock), Open mSupply (dispensing–inventory link) and NHS EPS (e-prescriptions) were reviewed.</a:t>
              </a:r>
            </a:p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Each system solves part of the problem but none combine secure QR prescribing, partial dispensing and automatic stock update for </a:t>
              </a:r>
              <a:r>
                <a:rPr lang="en-GB"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authorized</a:t>
              </a: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staff.</a:t>
              </a:r>
            </a:p>
            <a:p>
              <a:pPr marL="274320" indent="-274320" algn="l"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MedLocate integrates medicine search, QR e-prescriptions and transactional stock updates in one role-based Django platform for Botswana.</a:t>
              </a:r>
            </a:p>
          </p:txBody>
        </p:sp>
        <p:graphicFrame>
          <p:nvGraphicFramePr>
            <p:cNvPr id="29" name="Comparison table"/>
            <p:cNvGraphicFramePr>
              <a:graphicFrameLocks noGrp="1"/>
            </p:cNvGraphicFramePr>
            <p:nvPr>
              <p:extLst>
                <p:ext uri="{D42A27DB-BD31-4B8C-83A1-F6EECF244321}">
                  <p14:modId xmlns:p14="http://schemas.microsoft.com/office/powerpoint/2010/main" val="2130044370"/>
                </p:ext>
              </p:extLst>
            </p:nvPr>
          </p:nvGraphicFramePr>
          <p:xfrm>
            <a:off x="722376" y="12847371"/>
            <a:ext cx="9111803" cy="2759769"/>
          </p:xfrm>
          <a:graphic>
            <a:graphicData uri="http://schemas.openxmlformats.org/drawingml/2006/table">
              <a:tbl>
                <a:tblPr>
                  <a:tableStyleId>{5940675A-B579-460E-94D1-54222C63F5DA}</a:tableStyleId>
                </a:tblPr>
                <a:tblGrid>
                  <a:gridCol w="3512942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865821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865821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</a:tblGrid>
                <a:tr h="394001">
                  <a:tc>
                    <a:txBody>
                      <a:bodyPr/>
                      <a:lstStyle/>
                      <a:p>
                        <a:r>
                          <a:rPr sz="1600" b="1" i="0" dirty="0">
                            <a:solidFill>
                              <a:schemeClr val="bg1"/>
                            </a:solidFill>
                            <a:latin typeface="+mn-lt"/>
                          </a:rPr>
                          <a:t>Existing work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tx2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1" i="0" dirty="0">
                            <a:solidFill>
                              <a:schemeClr val="bg1"/>
                            </a:solidFill>
                            <a:latin typeface="+mn-lt"/>
                          </a:rPr>
                          <a:t>Strength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tx2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1" i="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Limitation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tx2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500927"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ChekaMeds (n.d.)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Local medicine search &amp; provider visibility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No QR Rx, partial dispense or auto stock update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500927"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OpenLMIS / Open mSupply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Robust stock records &amp; dispensing–inventory link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Not focused on QR e-Rx for Botswana facilities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500927"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NHS EPS (2026)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Secure electronic prescription flow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Not linked to local inventory search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500927">
                  <a:tc>
                    <a:txBody>
                      <a:bodyPr/>
                      <a:lstStyle/>
                      <a:p>
                        <a:r>
                          <a:rPr sz="1600" b="1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Proposed artifact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a:tcPr>
                  </a:tc>
                  <a:tc gridSpan="2"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Combines search + secure QR Rx + transactional stock update for </a:t>
                        </a:r>
                        <a:r>
                          <a:rPr lang="en-GB"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authorized</a:t>
                        </a:r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 staff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a:tcPr>
                  </a:tc>
                  <a:tc hMerge="1">
                    <a:txBody>
                      <a:bodyPr/>
                      <a:lstStyle/>
                      <a:p>
                        <a:endParaRPr/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</a:tbl>
            </a:graphicData>
          </a:graphic>
        </p:graphicFrame>
        <p:pic>
          <p:nvPicPr>
            <p:cNvPr id="30" name="Framework picture" descr="image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78992" y="15124176"/>
              <a:ext cx="8531352" cy="2816352"/>
            </a:xfrm>
            <a:prstGeom prst="rect">
              <a:avLst/>
            </a:prstGeom>
          </p:spPr>
        </p:pic>
        <p:sp>
          <p:nvSpPr>
            <p:cNvPr id="31" name="Framework caption"/>
            <p:cNvSpPr txBox="1"/>
            <p:nvPr/>
          </p:nvSpPr>
          <p:spPr>
            <a:xfrm>
              <a:off x="1078992" y="18114264"/>
              <a:ext cx="8531352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500" b="0" i="1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+mn-lt"/>
                </a:rPr>
                <a:t>Figure 1. Conceptual framework – integrated search, QR e-Rx and stock integrity</a:t>
              </a:r>
            </a:p>
          </p:txBody>
        </p:sp>
      </p:grpSp>
      <p:grpSp>
        <p:nvGrpSpPr>
          <p:cNvPr id="32" name="Section 3 - System Design"/>
          <p:cNvGrpSpPr/>
          <p:nvPr/>
        </p:nvGrpSpPr>
        <p:grpSpPr>
          <a:xfrm>
            <a:off x="10562993" y="4224528"/>
            <a:ext cx="9244584" cy="15299005"/>
            <a:chOff x="10515600" y="4434840"/>
            <a:chExt cx="9244584" cy="14310360"/>
          </a:xfrm>
        </p:grpSpPr>
        <p:sp>
          <p:nvSpPr>
            <p:cNvPr id="33" name="Card"/>
            <p:cNvSpPr/>
            <p:nvPr/>
          </p:nvSpPr>
          <p:spPr>
            <a:xfrm>
              <a:off x="10515600" y="4434840"/>
              <a:ext cx="9244584" cy="14310360"/>
            </a:xfrm>
            <a:prstGeom prst="roundRect">
              <a:avLst>
                <a:gd name="adj" fmla="val 1780"/>
              </a:avLst>
            </a:prstGeom>
            <a:solidFill>
              <a:schemeClr val="bg2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34" name="Number pill"/>
            <p:cNvSpPr/>
            <p:nvPr/>
          </p:nvSpPr>
          <p:spPr>
            <a:xfrm>
              <a:off x="10872216" y="4764024"/>
              <a:ext cx="914400" cy="5486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35" name="Number"/>
            <p:cNvSpPr txBox="1"/>
            <p:nvPr/>
          </p:nvSpPr>
          <p:spPr>
            <a:xfrm>
              <a:off x="10872216" y="4764024"/>
              <a:ext cx="91440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sz="2200" b="1" i="0" dirty="0">
                  <a:solidFill>
                    <a:schemeClr val="bg1"/>
                  </a:solidFill>
                  <a:latin typeface="+mj-lt"/>
                </a:rPr>
                <a:t>3</a:t>
              </a:r>
            </a:p>
          </p:txBody>
        </p:sp>
        <p:sp>
          <p:nvSpPr>
            <p:cNvPr id="36" name="Heading"/>
            <p:cNvSpPr txBox="1"/>
            <p:nvPr/>
          </p:nvSpPr>
          <p:spPr>
            <a:xfrm>
              <a:off x="11996928" y="4681728"/>
              <a:ext cx="7415784" cy="7223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buNone/>
              </a:pPr>
              <a:r>
                <a:rPr sz="28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SYSTEM DESIGN</a:t>
              </a:r>
            </a:p>
          </p:txBody>
        </p:sp>
        <p:sp>
          <p:nvSpPr>
            <p:cNvPr id="37" name="Design list 1"/>
            <p:cNvSpPr txBox="1"/>
            <p:nvPr/>
          </p:nvSpPr>
          <p:spPr>
            <a:xfrm>
              <a:off x="10872216" y="5577840"/>
              <a:ext cx="4082796" cy="20370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Primary: medicine search, inventory, QR Rx generation, verification &amp; dispensing, stock integrity. Secondary: location, scanning, history, dashboards.</a:t>
              </a:r>
            </a:p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Django monolithic architecture with role-based access (Doctor, Nurse, Pharmacy Staff) and PostgreSQL database.</a:t>
              </a:r>
            </a:p>
            <a:p>
              <a:pPr marL="274320" indent="-274320" algn="l"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Use-case diagram (RQ01–RQ09), ERD for</a:t>
              </a:r>
              <a:r>
                <a:rPr lang="en-GB"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</a:t>
              </a: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prescriptions/stock/dispensing, activity &amp; sequence diagrams for QR verification.</a:t>
              </a:r>
            </a:p>
          </p:txBody>
        </p:sp>
        <p:sp>
          <p:nvSpPr>
            <p:cNvPr id="38" name="Design list 2"/>
            <p:cNvSpPr txBox="1"/>
            <p:nvPr/>
          </p:nvSpPr>
          <p:spPr>
            <a:xfrm>
              <a:off x="15320772" y="5577840"/>
              <a:ext cx="4082796" cy="20370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Python, Django, PostgreSQL. Role-based permissions. Secure QR references (no readable medical data on code).</a:t>
              </a:r>
            </a:p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Research-informed design: findings from existing systems mapped to requirements and architecture decisions.</a:t>
              </a:r>
            </a:p>
            <a:p>
              <a:pPr marL="274320" indent="-274320" algn="l"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Unit &amp; integration tests on core flows; transactional integrity checks; role-based access verification.</a:t>
              </a:r>
            </a:p>
          </p:txBody>
        </p:sp>
        <p:sp>
          <p:nvSpPr>
            <p:cNvPr id="39" name="Design box 1"/>
            <p:cNvSpPr/>
            <p:nvPr/>
          </p:nvSpPr>
          <p:spPr>
            <a:xfrm>
              <a:off x="10812104" y="10034225"/>
              <a:ext cx="1392940" cy="464629"/>
            </a:xfrm>
            <a:prstGeom prst="roundRect">
              <a:avLst>
                <a:gd name="adj" fmla="val 9333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accent1">
                  <a:lumMod val="65000"/>
                  <a:lumOff val="35000"/>
                </a:schemeClr>
              </a:solidFill>
            </a:ln>
          </p:spPr>
          <p:txBody>
            <a:bodyPr wrap="square" lIns="73152" tIns="36576" rIns="73152" bIns="36576" rtlCol="0" anchor="ctr"/>
            <a:lstStyle/>
            <a:p>
              <a:pPr algn="ctr"/>
              <a:r>
                <a:rPr sz="1500" b="1" i="0" dirty="0">
                  <a:solidFill>
                    <a:schemeClr val="tx1"/>
                  </a:solidFill>
                  <a:latin typeface="+mn-lt"/>
                </a:rPr>
                <a:t>Users &amp;</a:t>
              </a:r>
            </a:p>
            <a:p>
              <a:pPr algn="ctr"/>
              <a:r>
                <a:rPr sz="1500" b="1" i="0" dirty="0">
                  <a:solidFill>
                    <a:schemeClr val="tx1"/>
                  </a:solidFill>
                  <a:latin typeface="+mn-lt"/>
                </a:rPr>
                <a:t>Requirements</a:t>
              </a:r>
            </a:p>
          </p:txBody>
        </p:sp>
        <p:sp>
          <p:nvSpPr>
            <p:cNvPr id="40" name="Arrow 1"/>
            <p:cNvSpPr/>
            <p:nvPr/>
          </p:nvSpPr>
          <p:spPr>
            <a:xfrm>
              <a:off x="12264005" y="10088276"/>
              <a:ext cx="384048" cy="384048"/>
            </a:xfrm>
            <a:prstGeom prst="rightArrow">
              <a:avLst/>
            </a:prstGeom>
            <a:solidFill>
              <a:schemeClr val="accent1">
                <a:lumMod val="9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41" name="Design box 2"/>
            <p:cNvSpPr/>
            <p:nvPr/>
          </p:nvSpPr>
          <p:spPr>
            <a:xfrm>
              <a:off x="12677352" y="9739831"/>
              <a:ext cx="1652778" cy="1006743"/>
            </a:xfrm>
            <a:prstGeom prst="roundRect">
              <a:avLst>
                <a:gd name="adj" fmla="val 9333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accent2">
                  <a:lumMod val="65000"/>
                  <a:lumOff val="35000"/>
                </a:schemeClr>
              </a:solidFill>
            </a:ln>
          </p:spPr>
          <p:txBody>
            <a:bodyPr wrap="square" lIns="73152" tIns="36576" rIns="73152" bIns="36576" rtlCol="0" anchor="ctr"/>
            <a:lstStyle/>
            <a:p>
              <a:pPr algn="ctr"/>
              <a:r>
                <a:rPr sz="1500" b="1" i="0" dirty="0">
                  <a:solidFill>
                    <a:schemeClr val="tx1"/>
                  </a:solidFill>
                  <a:latin typeface="+mn-lt"/>
                </a:rPr>
                <a:t>Interface</a:t>
              </a:r>
            </a:p>
            <a:p>
              <a:pPr algn="ctr"/>
              <a:r>
                <a:rPr sz="1500" b="1" i="0" dirty="0">
                  <a:solidFill>
                    <a:schemeClr val="tx1"/>
                  </a:solidFill>
                  <a:latin typeface="+mn-lt"/>
                </a:rPr>
                <a:t>Layer</a:t>
              </a:r>
            </a:p>
          </p:txBody>
        </p:sp>
        <p:sp>
          <p:nvSpPr>
            <p:cNvPr id="42" name="Arrow 2"/>
            <p:cNvSpPr/>
            <p:nvPr/>
          </p:nvSpPr>
          <p:spPr>
            <a:xfrm>
              <a:off x="14433672" y="10064942"/>
              <a:ext cx="384048" cy="384048"/>
            </a:xfrm>
            <a:prstGeom prst="rightArrow">
              <a:avLst/>
            </a:prstGeom>
            <a:solidFill>
              <a:schemeClr val="accent1">
                <a:lumMod val="9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43" name="Design box 3"/>
            <p:cNvSpPr/>
            <p:nvPr/>
          </p:nvSpPr>
          <p:spPr>
            <a:xfrm>
              <a:off x="14839104" y="9681936"/>
              <a:ext cx="1652778" cy="1045470"/>
            </a:xfrm>
            <a:prstGeom prst="roundRect">
              <a:avLst>
                <a:gd name="adj" fmla="val 9333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accent1">
                  <a:lumMod val="65000"/>
                  <a:lumOff val="35000"/>
                </a:schemeClr>
              </a:solidFill>
            </a:ln>
          </p:spPr>
          <p:txBody>
            <a:bodyPr wrap="square" lIns="73152" tIns="36576" rIns="73152" bIns="36576" rtlCol="0" anchor="ctr"/>
            <a:lstStyle/>
            <a:p>
              <a:pPr algn="ctr"/>
              <a:r>
                <a:rPr sz="1500" b="1" i="0" dirty="0">
                  <a:solidFill>
                    <a:schemeClr val="tx1"/>
                  </a:solidFill>
                  <a:latin typeface="+mn-lt"/>
                </a:rPr>
                <a:t>Application</a:t>
              </a:r>
            </a:p>
            <a:p>
              <a:pPr algn="ctr"/>
              <a:r>
                <a:rPr sz="1500" b="1" i="0" dirty="0">
                  <a:solidFill>
                    <a:schemeClr val="tx1"/>
                  </a:solidFill>
                  <a:latin typeface="+mn-lt"/>
                </a:rPr>
                <a:t>Logic / API</a:t>
              </a:r>
            </a:p>
          </p:txBody>
        </p:sp>
        <p:sp>
          <p:nvSpPr>
            <p:cNvPr id="44" name="Arrow 3"/>
            <p:cNvSpPr/>
            <p:nvPr/>
          </p:nvSpPr>
          <p:spPr>
            <a:xfrm>
              <a:off x="16564197" y="10061728"/>
              <a:ext cx="384048" cy="384048"/>
            </a:xfrm>
            <a:prstGeom prst="rightArrow">
              <a:avLst/>
            </a:prstGeom>
            <a:solidFill>
              <a:schemeClr val="accent1">
                <a:lumMod val="9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45" name="Design box 4"/>
            <p:cNvSpPr/>
            <p:nvPr/>
          </p:nvSpPr>
          <p:spPr>
            <a:xfrm>
              <a:off x="16934529" y="9659025"/>
              <a:ext cx="1652778" cy="1087550"/>
            </a:xfrm>
            <a:prstGeom prst="roundRect">
              <a:avLst>
                <a:gd name="adj" fmla="val 9333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accent2">
                  <a:lumMod val="65000"/>
                  <a:lumOff val="35000"/>
                </a:schemeClr>
              </a:solidFill>
            </a:ln>
          </p:spPr>
          <p:txBody>
            <a:bodyPr wrap="square" lIns="73152" tIns="36576" rIns="73152" bIns="36576" rtlCol="0" anchor="ctr"/>
            <a:lstStyle/>
            <a:p>
              <a:pPr algn="ctr"/>
              <a:r>
                <a:rPr sz="1500" b="1" i="0" dirty="0">
                  <a:solidFill>
                    <a:schemeClr val="tx1"/>
                  </a:solidFill>
                  <a:latin typeface="+mn-lt"/>
                </a:rPr>
                <a:t>Data</a:t>
              </a:r>
            </a:p>
            <a:p>
              <a:pPr algn="ctr"/>
              <a:r>
                <a:rPr sz="1500" b="1" i="0" dirty="0">
                  <a:solidFill>
                    <a:schemeClr val="tx1"/>
                  </a:solidFill>
                  <a:latin typeface="+mn-lt"/>
                </a:rPr>
                <a:t>Layer</a:t>
              </a:r>
            </a:p>
          </p:txBody>
        </p:sp>
        <p:sp>
          <p:nvSpPr>
            <p:cNvPr id="46" name="Design caption"/>
            <p:cNvSpPr txBox="1"/>
            <p:nvPr/>
          </p:nvSpPr>
          <p:spPr>
            <a:xfrm>
              <a:off x="10872216" y="10809703"/>
              <a:ext cx="8531352" cy="3840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buNone/>
              </a:pPr>
              <a:r>
                <a:rPr sz="1500" b="0" i="1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+mn-lt"/>
                </a:rPr>
                <a:t>Figure 2. High-level design – Users &amp; Requirements layers</a:t>
              </a:r>
            </a:p>
          </p:txBody>
        </p:sp>
        <p:pic>
          <p:nvPicPr>
            <p:cNvPr id="47" name="Architecture Diagram picture" descr="image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814627" y="11358345"/>
              <a:ext cx="8718460" cy="3112662"/>
            </a:xfrm>
            <a:prstGeom prst="rect">
              <a:avLst/>
            </a:prstGeom>
          </p:spPr>
        </p:pic>
        <p:sp>
          <p:nvSpPr>
            <p:cNvPr id="48" name="Architecture Diagram caption"/>
            <p:cNvSpPr txBox="1"/>
            <p:nvPr/>
          </p:nvSpPr>
          <p:spPr>
            <a:xfrm>
              <a:off x="10872216" y="14565535"/>
              <a:ext cx="8531352" cy="3291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500" b="0" i="1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+mn-lt"/>
                </a:rPr>
                <a:t>Figure 3. System architecture (Django + PostgreSQL)</a:t>
              </a:r>
            </a:p>
          </p:txBody>
        </p:sp>
        <p:pic>
          <p:nvPicPr>
            <p:cNvPr id="49" name="Erd / Uml / Wireframes picture" descr="image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836539" y="15059311"/>
              <a:ext cx="8407994" cy="3344018"/>
            </a:xfrm>
            <a:prstGeom prst="rect">
              <a:avLst/>
            </a:prstGeom>
          </p:spPr>
        </p:pic>
        <p:sp>
          <p:nvSpPr>
            <p:cNvPr id="50" name="Erd / Uml / Wireframes caption"/>
            <p:cNvSpPr txBox="1"/>
            <p:nvPr/>
          </p:nvSpPr>
          <p:spPr>
            <a:xfrm>
              <a:off x="10872216" y="18378586"/>
              <a:ext cx="8531352" cy="35659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r>
                <a:t>Figure 4. Core entity relationships for stock and prescriptions</a:t>
              </a:r>
            </a:p>
          </p:txBody>
        </p:sp>
      </p:grpSp>
      <p:grpSp>
        <p:nvGrpSpPr>
          <p:cNvPr id="51" name="Section 4 - Results &amp; Discussion"/>
          <p:cNvGrpSpPr/>
          <p:nvPr/>
        </p:nvGrpSpPr>
        <p:grpSpPr>
          <a:xfrm>
            <a:off x="20308824" y="4137757"/>
            <a:ext cx="9244584" cy="8686800"/>
            <a:chOff x="20308824" y="4434840"/>
            <a:chExt cx="9244584" cy="8686800"/>
          </a:xfrm>
        </p:grpSpPr>
        <p:sp>
          <p:nvSpPr>
            <p:cNvPr id="52" name="Card"/>
            <p:cNvSpPr/>
            <p:nvPr/>
          </p:nvSpPr>
          <p:spPr>
            <a:xfrm>
              <a:off x="20308824" y="4434840"/>
              <a:ext cx="9244584" cy="8686800"/>
            </a:xfrm>
            <a:prstGeom prst="roundRect">
              <a:avLst>
                <a:gd name="adj" fmla="val 1894"/>
              </a:avLst>
            </a:prstGeom>
            <a:solidFill>
              <a:schemeClr val="bg2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53" name="Number pill"/>
            <p:cNvSpPr/>
            <p:nvPr/>
          </p:nvSpPr>
          <p:spPr>
            <a:xfrm>
              <a:off x="20665440" y="4764024"/>
              <a:ext cx="914400" cy="5486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54" name="Number"/>
            <p:cNvSpPr txBox="1"/>
            <p:nvPr/>
          </p:nvSpPr>
          <p:spPr>
            <a:xfrm>
              <a:off x="20665440" y="4764024"/>
              <a:ext cx="91440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sz="2200" b="1" i="0" dirty="0">
                  <a:solidFill>
                    <a:schemeClr val="bg1"/>
                  </a:solidFill>
                  <a:latin typeface="+mj-lt"/>
                </a:rPr>
                <a:t>4</a:t>
              </a:r>
            </a:p>
          </p:txBody>
        </p:sp>
        <p:sp>
          <p:nvSpPr>
            <p:cNvPr id="55" name="Heading"/>
            <p:cNvSpPr txBox="1"/>
            <p:nvPr/>
          </p:nvSpPr>
          <p:spPr>
            <a:xfrm>
              <a:off x="21790152" y="4681728"/>
              <a:ext cx="7415784" cy="7223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buNone/>
              </a:pPr>
              <a:r>
                <a:rPr sz="28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RESULTS &amp; DISCUSSION</a:t>
              </a:r>
            </a:p>
          </p:txBody>
        </p:sp>
        <p:sp>
          <p:nvSpPr>
            <p:cNvPr id="56" name="Results text"/>
            <p:cNvSpPr txBox="1"/>
            <p:nvPr/>
          </p:nvSpPr>
          <p:spPr>
            <a:xfrm>
              <a:off x="20665440" y="5577840"/>
              <a:ext cx="8531352" cy="1168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r>
                <a:t>Working screens show medicine availability search, an issued secure QR prescription and facility inventory. The demonstration uses synthetic records. Evaluation against primary requirements (RQ01–RQ05) is pending.</a:t>
              </a:r>
            </a:p>
          </p:txBody>
        </p:sp>
        <p:pic>
          <p:nvPicPr>
            <p:cNvPr id="57" name="Artifact screenshot" descr="image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0665440" y="7301668"/>
              <a:ext cx="8531352" cy="3287084"/>
            </a:xfrm>
            <a:prstGeom prst="rect">
              <a:avLst/>
            </a:prstGeom>
          </p:spPr>
        </p:pic>
        <p:sp>
          <p:nvSpPr>
            <p:cNvPr id="58" name="Screenshot caption"/>
            <p:cNvSpPr txBox="1"/>
            <p:nvPr/>
          </p:nvSpPr>
          <p:spPr>
            <a:xfrm>
              <a:off x="20665440" y="10661904"/>
              <a:ext cx="8531352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r>
                <a:t>Figure 5. MedLocate working screens using synthetic demonstration data</a:t>
              </a:r>
            </a:p>
          </p:txBody>
        </p:sp>
        <p:graphicFrame>
          <p:nvGraphicFramePr>
            <p:cNvPr id="59" name="Evaluation table"/>
            <p:cNvGraphicFramePr>
              <a:graphicFrameLocks noGrp="1"/>
            </p:cNvGraphicFramePr>
            <p:nvPr>
              <p:extLst>
                <p:ext uri="{D42A27DB-BD31-4B8C-83A1-F6EECF244321}">
                  <p14:modId xmlns:p14="http://schemas.microsoft.com/office/powerpoint/2010/main" val="1132607164"/>
                </p:ext>
              </p:extLst>
            </p:nvPr>
          </p:nvGraphicFramePr>
          <p:xfrm>
            <a:off x="20665440" y="11201400"/>
            <a:ext cx="8531352" cy="1645920"/>
          </p:xfrm>
          <a:graphic>
            <a:graphicData uri="http://schemas.openxmlformats.org/drawingml/2006/table">
              <a:tbl>
                <a:tblPr>
                  <a:tableStyleId>{5940675A-B579-460E-94D1-54222C63F5DA}</a:tableStyleId>
                </a:tblPr>
                <a:tblGrid>
                  <a:gridCol w="2559406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3241914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1365016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1365016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</a:tblGrid>
                <a:tr h="411480">
                  <a:tc>
                    <a:txBody>
                      <a:bodyPr/>
                      <a:lstStyle/>
                      <a:p>
                        <a:r>
                          <a:rPr sz="1600" b="1" i="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Evaluation criterion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tx2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1" i="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Method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tx2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1" i="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Target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tx2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1" i="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Result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tx2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411480"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Functionality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Test cases passed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[ ]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[ ]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411480"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Usability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User testing / SUS survey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[ ]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[ ]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411480"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Performance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Response time, accuracy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[ ]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[ ]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</p:grpSp>
      <p:grpSp>
        <p:nvGrpSpPr>
          <p:cNvPr id="60" name="Section 5 - Conclusion"/>
          <p:cNvGrpSpPr/>
          <p:nvPr/>
        </p:nvGrpSpPr>
        <p:grpSpPr>
          <a:xfrm>
            <a:off x="20398710" y="13107536"/>
            <a:ext cx="10198667" cy="3386477"/>
            <a:chOff x="20555880" y="13395960"/>
            <a:chExt cx="9494618" cy="2850832"/>
          </a:xfrm>
        </p:grpSpPr>
        <p:sp>
          <p:nvSpPr>
            <p:cNvPr id="61" name="Card"/>
            <p:cNvSpPr/>
            <p:nvPr/>
          </p:nvSpPr>
          <p:spPr>
            <a:xfrm>
              <a:off x="20555880" y="13395960"/>
              <a:ext cx="9494618" cy="2784919"/>
            </a:xfrm>
            <a:prstGeom prst="roundRect">
              <a:avLst>
                <a:gd name="adj" fmla="val 6474"/>
              </a:avLst>
            </a:prstGeom>
            <a:solidFill>
              <a:schemeClr val="bg2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62" name="Number pill"/>
            <p:cNvSpPr/>
            <p:nvPr/>
          </p:nvSpPr>
          <p:spPr>
            <a:xfrm>
              <a:off x="20665440" y="13725144"/>
              <a:ext cx="914400" cy="5486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63" name="Number"/>
            <p:cNvSpPr txBox="1"/>
            <p:nvPr/>
          </p:nvSpPr>
          <p:spPr>
            <a:xfrm>
              <a:off x="20665440" y="13725144"/>
              <a:ext cx="91440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sz="2200" b="1" i="0" dirty="0">
                  <a:solidFill>
                    <a:schemeClr val="bg1"/>
                  </a:solidFill>
                  <a:latin typeface="+mj-lt"/>
                </a:rPr>
                <a:t>5</a:t>
              </a:r>
            </a:p>
          </p:txBody>
        </p:sp>
        <p:sp>
          <p:nvSpPr>
            <p:cNvPr id="64" name="Heading"/>
            <p:cNvSpPr txBox="1"/>
            <p:nvPr/>
          </p:nvSpPr>
          <p:spPr>
            <a:xfrm>
              <a:off x="21790153" y="13642848"/>
              <a:ext cx="6942499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buNone/>
              </a:pPr>
              <a:r>
                <a:rPr sz="28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CONCLUSION</a:t>
              </a:r>
            </a:p>
          </p:txBody>
        </p:sp>
        <p:sp>
          <p:nvSpPr>
            <p:cNvPr id="65" name="Conclusion text"/>
            <p:cNvSpPr txBox="1"/>
            <p:nvPr/>
          </p:nvSpPr>
          <p:spPr>
            <a:xfrm>
              <a:off x="20665440" y="14538960"/>
              <a:ext cx="8606399" cy="17078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MedLocate integrates medicine availability search, secure QR e-prescriptions and transactional stock updates for authorized healthcare staff in Botswana.</a:t>
              </a:r>
            </a:p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Practical contribution: a single platform addressing fragmented search, prescribing and inventory processes aligned with Botswana’s eHealth Strategy.</a:t>
              </a:r>
            </a:p>
            <a:p>
              <a:pPr marL="274320" indent="-274320" algn="l"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Core requirements (search, inventory, QR Rx, verification, stock integrity) are designed and being implemented; evaluation pending.</a:t>
              </a:r>
            </a:p>
          </p:txBody>
        </p:sp>
      </p:grpSp>
      <p:grpSp>
        <p:nvGrpSpPr>
          <p:cNvPr id="66" name="Section 6 - Recommendations &amp; Future Work"/>
          <p:cNvGrpSpPr/>
          <p:nvPr/>
        </p:nvGrpSpPr>
        <p:grpSpPr>
          <a:xfrm>
            <a:off x="20420880" y="16658605"/>
            <a:ext cx="9020471" cy="2880276"/>
            <a:chOff x="20308824" y="16203167"/>
            <a:chExt cx="8948912" cy="3967612"/>
          </a:xfrm>
        </p:grpSpPr>
        <p:sp>
          <p:nvSpPr>
            <p:cNvPr id="67" name="Card"/>
            <p:cNvSpPr/>
            <p:nvPr/>
          </p:nvSpPr>
          <p:spPr>
            <a:xfrm>
              <a:off x="20308824" y="16203167"/>
              <a:ext cx="8948912" cy="3967611"/>
            </a:xfrm>
            <a:prstGeom prst="roundRect">
              <a:avLst>
                <a:gd name="adj" fmla="val 6474"/>
              </a:avLst>
            </a:prstGeom>
            <a:solidFill>
              <a:schemeClr val="bg2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68" name="Number pill"/>
            <p:cNvSpPr/>
            <p:nvPr/>
          </p:nvSpPr>
          <p:spPr>
            <a:xfrm>
              <a:off x="20665440" y="16532352"/>
              <a:ext cx="914400" cy="5486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69" name="Number"/>
            <p:cNvSpPr txBox="1"/>
            <p:nvPr/>
          </p:nvSpPr>
          <p:spPr>
            <a:xfrm>
              <a:off x="20665440" y="16532352"/>
              <a:ext cx="91440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sz="2200" b="1" i="0" dirty="0">
                  <a:solidFill>
                    <a:schemeClr val="bg1"/>
                  </a:solidFill>
                  <a:latin typeface="+mj-lt"/>
                </a:rPr>
                <a:t>6</a:t>
              </a:r>
            </a:p>
          </p:txBody>
        </p:sp>
        <p:sp>
          <p:nvSpPr>
            <p:cNvPr id="70" name="Heading"/>
            <p:cNvSpPr txBox="1"/>
            <p:nvPr/>
          </p:nvSpPr>
          <p:spPr>
            <a:xfrm>
              <a:off x="21662833" y="16475055"/>
              <a:ext cx="7415784" cy="7223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buNone/>
              </a:pPr>
              <a:r>
                <a:rPr sz="28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RECOMMENDATIONS &amp; FUTURE WORK</a:t>
              </a:r>
            </a:p>
          </p:txBody>
        </p:sp>
        <p:sp>
          <p:nvSpPr>
            <p:cNvPr id="71" name="Recommendations text"/>
            <p:cNvSpPr txBox="1"/>
            <p:nvPr/>
          </p:nvSpPr>
          <p:spPr>
            <a:xfrm>
              <a:off x="20665440" y="17346168"/>
              <a:ext cx="8531352" cy="28246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Adopt role-based access and facility assignment. Train staff on QR workflow. Keep stock data current for reliable search results.</a:t>
              </a:r>
            </a:p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Currently limited to </a:t>
              </a:r>
              <a:r>
                <a:rPr lang="en-GB"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authorized</a:t>
              </a: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staff (no patient access). Offline capability and full multi-facility scale testing still needed.</a:t>
              </a:r>
            </a:p>
            <a:p>
              <a:pPr marL="274320" indent="-274320" algn="l"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Future work: offline support, patient-facing features (if policy allows), mobile </a:t>
              </a:r>
              <a:r>
                <a:rPr lang="en-GB"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optimization</a:t>
              </a: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analytics dashboards and integration with national systems.</a:t>
              </a:r>
            </a:p>
          </p:txBody>
        </p:sp>
      </p:grpSp>
      <p:grpSp>
        <p:nvGrpSpPr>
          <p:cNvPr id="72" name="References and QR codes"/>
          <p:cNvGrpSpPr/>
          <p:nvPr/>
        </p:nvGrpSpPr>
        <p:grpSpPr>
          <a:xfrm>
            <a:off x="1344168" y="19792708"/>
            <a:ext cx="28831032" cy="1554480"/>
            <a:chOff x="722376" y="19110960"/>
            <a:chExt cx="28831032" cy="1554480"/>
          </a:xfrm>
        </p:grpSpPr>
        <p:sp>
          <p:nvSpPr>
            <p:cNvPr id="73" name="Panel"/>
            <p:cNvSpPr/>
            <p:nvPr/>
          </p:nvSpPr>
          <p:spPr>
            <a:xfrm>
              <a:off x="722376" y="19110960"/>
              <a:ext cx="28831032" cy="1554480"/>
            </a:xfrm>
            <a:prstGeom prst="roundRect">
              <a:avLst>
                <a:gd name="adj" fmla="val 10588"/>
              </a:avLst>
            </a:prstGeom>
            <a:solidFill>
              <a:schemeClr val="tx2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74" name="References label"/>
            <p:cNvSpPr txBox="1"/>
            <p:nvPr/>
          </p:nvSpPr>
          <p:spPr>
            <a:xfrm>
              <a:off x="1152144" y="19348704"/>
              <a:ext cx="24917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2800" b="1" i="0" spc="300" dirty="0">
                  <a:solidFill>
                    <a:schemeClr val="accent1">
                      <a:lumMod val="55000"/>
                      <a:lumOff val="4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REFERENCES</a:t>
              </a:r>
            </a:p>
          </p:txBody>
        </p:sp>
        <p:sp>
          <p:nvSpPr>
            <p:cNvPr id="75" name="References list"/>
            <p:cNvSpPr txBox="1"/>
            <p:nvPr/>
          </p:nvSpPr>
          <p:spPr>
            <a:xfrm>
              <a:off x="1152144" y="19769328"/>
              <a:ext cx="2491740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400" b="0" i="0" dirty="0">
                  <a:solidFill>
                    <a:schemeClr val="bg1">
                      <a:lumMod val="8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Botswana Ministry of Health. (2020). Botswana eHealth Strategy 2020-2024.  |  ChekaMeds. (n.d.).  |  mSupply Foundation. (n.d.).  |  NHS England. (2026). Electronic Prescription Service.  |  OpenLMIS. (n.d.).  |  Reuters. (2025). Botswana declares public health emergency…  |  WHO Regional Office for Africa. (2025). Botswana bets on the digital future…</a:t>
              </a:r>
            </a:p>
          </p:txBody>
        </p:sp>
        <p:pic>
          <p:nvPicPr>
            <p:cNvPr id="76" name="Code QR picture" descr="image.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8026360" y="19275552"/>
              <a:ext cx="1225296" cy="1225296"/>
            </a:xfrm>
            <a:prstGeom prst="rect">
              <a:avLst/>
            </a:prstGeom>
          </p:spPr>
        </p:pic>
        <p:pic>
          <p:nvPicPr>
            <p:cNvPr id="77" name="Demo QR picture" descr="image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343864" y="19275552"/>
              <a:ext cx="1225296" cy="1225296"/>
            </a:xfrm>
            <a:prstGeom prst="rect">
              <a:avLst/>
            </a:prstGeom>
          </p:spPr>
        </p:pic>
      </p:grpSp>
      <p:sp>
        <p:nvSpPr>
          <p:cNvPr id="78" name="GitHub repository QR label"/>
          <p:cNvSpPr txBox="1"/>
          <p:nvPr/>
        </p:nvSpPr>
        <p:spPr>
          <a:xfrm>
            <a:off x="28008072" y="20537424"/>
            <a:ext cx="126187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GITHUB REPO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164</TotalTime>
  <Words>826</Words>
  <Application>Microsoft Office PowerPoint</Application>
  <PresentationFormat>Custom</PresentationFormat>
  <Paragraphs>93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Office 2013 - 2022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 Development Poster Template B</dc:title>
  <dc:subject>PptxGenJS Presentation</dc:subject>
  <dc:creator>BSBS</dc:creator>
  <cp:lastModifiedBy>Tlamelo Molly Mokenti</cp:lastModifiedBy>
  <cp:revision>4</cp:revision>
  <dcterms:created xsi:type="dcterms:W3CDTF">2026-10-12T06:40:15Z</dcterms:created>
  <dcterms:modified xsi:type="dcterms:W3CDTF">2026-10-21T22:34:44Z</dcterms:modified>
</cp:coreProperties>
</file>